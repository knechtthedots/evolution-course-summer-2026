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433" r:id="rId3"/>
    <p:sldId id="424" r:id="rId4"/>
    <p:sldId id="425" r:id="rId5"/>
    <p:sldId id="408" r:id="rId6"/>
    <p:sldId id="409" r:id="rId7"/>
    <p:sldId id="410" r:id="rId8"/>
    <p:sldId id="411" r:id="rId9"/>
    <p:sldId id="412" r:id="rId10"/>
    <p:sldId id="413" r:id="rId11"/>
    <p:sldId id="353" r:id="rId12"/>
    <p:sldId id="414" r:id="rId13"/>
    <p:sldId id="415" r:id="rId14"/>
    <p:sldId id="336" r:id="rId15"/>
    <p:sldId id="337" r:id="rId16"/>
    <p:sldId id="416" r:id="rId17"/>
    <p:sldId id="417" r:id="rId18"/>
    <p:sldId id="418" r:id="rId19"/>
    <p:sldId id="419" r:id="rId20"/>
    <p:sldId id="420" r:id="rId21"/>
    <p:sldId id="421" r:id="rId22"/>
    <p:sldId id="422" r:id="rId23"/>
    <p:sldId id="423" r:id="rId24"/>
    <p:sldId id="426" r:id="rId25"/>
    <p:sldId id="427" r:id="rId26"/>
    <p:sldId id="429" r:id="rId27"/>
    <p:sldId id="428" r:id="rId28"/>
    <p:sldId id="430" r:id="rId29"/>
    <p:sldId id="431" r:id="rId30"/>
    <p:sldId id="43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showGuides="1">
      <p:cViewPr varScale="1">
        <p:scale>
          <a:sx n="88" d="100"/>
          <a:sy n="88" d="100"/>
        </p:scale>
        <p:origin x="374"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89213-406C-431C-B4A5-5F70FBE368EA}"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14C775-421E-479E-9C04-BCACEF8D124E}" type="slidenum">
              <a:rPr lang="en-US" smtClean="0"/>
              <a:t>‹#›</a:t>
            </a:fld>
            <a:endParaRPr lang="en-US"/>
          </a:p>
        </p:txBody>
      </p:sp>
    </p:spTree>
    <p:extLst>
      <p:ext uri="{BB962C8B-B14F-4D97-AF65-F5344CB8AC3E}">
        <p14:creationId xmlns:p14="http://schemas.microsoft.com/office/powerpoint/2010/main" val="1393376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Figure 6.2a</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(A) </a:t>
            </a:r>
            <a:r>
              <a:rPr lang="en-IN" sz="1200" b="0" i="0" u="none" strike="noStrike" kern="1200" baseline="0" dirty="0">
                <a:solidFill>
                  <a:schemeClr val="tx1"/>
                </a:solidFill>
                <a:latin typeface="+mn-lt"/>
                <a:ea typeface="+mn-ea"/>
                <a:cs typeface="+mn-cs"/>
              </a:rPr>
              <a:t>Under blending inheritance, </a:t>
            </a:r>
            <a:r>
              <a:rPr lang="en-US" sz="1200" b="0" i="0" u="none" strike="noStrike" kern="1200" baseline="0" dirty="0">
                <a:solidFill>
                  <a:schemeClr val="tx1"/>
                </a:solidFill>
                <a:latin typeface="+mn-lt"/>
                <a:ea typeface="+mn-ea"/>
                <a:cs typeface="+mn-cs"/>
              </a:rPr>
              <a:t>the offspring of a red-flowered and a white-flowered parent would be pink; the offspring of these </a:t>
            </a:r>
            <a:r>
              <a:rPr lang="en-US" sz="1200" b="0" i="0" u="none" strike="noStrike" kern="1200" baseline="0" dirty="0" err="1">
                <a:solidFill>
                  <a:schemeClr val="tx1"/>
                </a:solidFill>
                <a:latin typeface="+mn-lt"/>
                <a:ea typeface="+mn-ea"/>
                <a:cs typeface="+mn-cs"/>
              </a:rPr>
              <a:t>pinkflowered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individuals would also be pink.</a:t>
            </a:r>
            <a:endParaRPr lang="en-IN" b="1" dirty="0"/>
          </a:p>
        </p:txBody>
      </p:sp>
      <p:sp>
        <p:nvSpPr>
          <p:cNvPr id="4" name="Slide Number Placeholder 3"/>
          <p:cNvSpPr>
            <a:spLocks noGrp="1"/>
          </p:cNvSpPr>
          <p:nvPr>
            <p:ph type="sldNum" sz="quarter" idx="5"/>
          </p:nvPr>
        </p:nvSpPr>
        <p:spPr/>
        <p:txBody>
          <a:bodyPr/>
          <a:lstStyle/>
          <a:p>
            <a:fld id="{CEC09B7F-E93B-5E41-8803-6FBF9202B12C}" type="slidenum">
              <a:rPr lang="en-US" smtClean="0"/>
              <a:t>5</a:t>
            </a:fld>
            <a:endParaRPr lang="en-US"/>
          </a:p>
        </p:txBody>
      </p:sp>
    </p:spTree>
    <p:extLst>
      <p:ext uri="{BB962C8B-B14F-4D97-AF65-F5344CB8AC3E}">
        <p14:creationId xmlns:p14="http://schemas.microsoft.com/office/powerpoint/2010/main" val="2302829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FCCE-6DFF-A554-4FBC-F6C605178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47683-0B94-7394-61C2-3DC5B0285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8F054-E98D-2C7E-2006-A0BF33B66817}"/>
              </a:ext>
            </a:extLst>
          </p:cNvPr>
          <p:cNvSpPr>
            <a:spLocks noGrp="1"/>
          </p:cNvSpPr>
          <p:nvPr>
            <p:ph type="body" idx="1"/>
          </p:nvPr>
        </p:nvSpPr>
        <p:spPr/>
        <p:txBody>
          <a:bodyPr/>
          <a:lstStyle/>
          <a:p>
            <a:r>
              <a:rPr lang="en-IN" b="1" dirty="0"/>
              <a:t>Figure 6.2a</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(A) </a:t>
            </a:r>
            <a:r>
              <a:rPr lang="en-IN" sz="1200" b="0" i="0" u="none" strike="noStrike" kern="1200" baseline="0" dirty="0">
                <a:solidFill>
                  <a:schemeClr val="tx1"/>
                </a:solidFill>
                <a:latin typeface="+mn-lt"/>
                <a:ea typeface="+mn-ea"/>
                <a:cs typeface="+mn-cs"/>
              </a:rPr>
              <a:t>Under blending inheritance, </a:t>
            </a:r>
            <a:r>
              <a:rPr lang="en-US" sz="1200" b="0" i="0" u="none" strike="noStrike" kern="1200" baseline="0" dirty="0">
                <a:solidFill>
                  <a:schemeClr val="tx1"/>
                </a:solidFill>
                <a:latin typeface="+mn-lt"/>
                <a:ea typeface="+mn-ea"/>
                <a:cs typeface="+mn-cs"/>
              </a:rPr>
              <a:t>the offspring of a red-flowered and a white-flowered parent would be pink; the offspring of these </a:t>
            </a:r>
            <a:r>
              <a:rPr lang="en-US" sz="1200" b="0" i="0" u="none" strike="noStrike" kern="1200" baseline="0" dirty="0" err="1">
                <a:solidFill>
                  <a:schemeClr val="tx1"/>
                </a:solidFill>
                <a:latin typeface="+mn-lt"/>
                <a:ea typeface="+mn-ea"/>
                <a:cs typeface="+mn-cs"/>
              </a:rPr>
              <a:t>pinkflowered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individuals would also be pink.</a:t>
            </a:r>
            <a:endParaRPr lang="en-IN" b="1" dirty="0"/>
          </a:p>
        </p:txBody>
      </p:sp>
      <p:sp>
        <p:nvSpPr>
          <p:cNvPr id="4" name="Slide Number Placeholder 3">
            <a:extLst>
              <a:ext uri="{FF2B5EF4-FFF2-40B4-BE49-F238E27FC236}">
                <a16:creationId xmlns:a16="http://schemas.microsoft.com/office/drawing/2014/main" id="{C6A09ABF-E031-CEF6-2611-55C7AD1D451D}"/>
              </a:ext>
            </a:extLst>
          </p:cNvPr>
          <p:cNvSpPr>
            <a:spLocks noGrp="1"/>
          </p:cNvSpPr>
          <p:nvPr>
            <p:ph type="sldNum" sz="quarter" idx="5"/>
          </p:nvPr>
        </p:nvSpPr>
        <p:spPr/>
        <p:txBody>
          <a:bodyPr/>
          <a:lstStyle/>
          <a:p>
            <a:fld id="{CEC09B7F-E93B-5E41-8803-6FBF9202B12C}" type="slidenum">
              <a:rPr lang="en-US" smtClean="0"/>
              <a:t>6</a:t>
            </a:fld>
            <a:endParaRPr lang="en-US"/>
          </a:p>
        </p:txBody>
      </p:sp>
    </p:spTree>
    <p:extLst>
      <p:ext uri="{BB962C8B-B14F-4D97-AF65-F5344CB8AC3E}">
        <p14:creationId xmlns:p14="http://schemas.microsoft.com/office/powerpoint/2010/main" val="1661589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A000D-D3F1-DA58-ACF3-810C797F5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20A07-46FA-DB1E-7027-ABA800B40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6080F-9FDB-DC7C-6871-163570ACE60C}"/>
              </a:ext>
            </a:extLst>
          </p:cNvPr>
          <p:cNvSpPr>
            <a:spLocks noGrp="1"/>
          </p:cNvSpPr>
          <p:nvPr>
            <p:ph type="body" idx="1"/>
          </p:nvPr>
        </p:nvSpPr>
        <p:spPr/>
        <p:txBody>
          <a:bodyPr/>
          <a:lstStyle/>
          <a:p>
            <a:r>
              <a:rPr lang="en-IN" b="1" dirty="0"/>
              <a:t>Figure 6.2a</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(A) </a:t>
            </a:r>
            <a:r>
              <a:rPr lang="en-IN" sz="1200" b="0" i="0" u="none" strike="noStrike" kern="1200" baseline="0" dirty="0">
                <a:solidFill>
                  <a:schemeClr val="tx1"/>
                </a:solidFill>
                <a:latin typeface="+mn-lt"/>
                <a:ea typeface="+mn-ea"/>
                <a:cs typeface="+mn-cs"/>
              </a:rPr>
              <a:t>Under blending inheritance, </a:t>
            </a:r>
            <a:r>
              <a:rPr lang="en-US" sz="1200" b="0" i="0" u="none" strike="noStrike" kern="1200" baseline="0" dirty="0">
                <a:solidFill>
                  <a:schemeClr val="tx1"/>
                </a:solidFill>
                <a:latin typeface="+mn-lt"/>
                <a:ea typeface="+mn-ea"/>
                <a:cs typeface="+mn-cs"/>
              </a:rPr>
              <a:t>the offspring of a red-flowered and a white-flowered parent would be pink; the offspring of these </a:t>
            </a:r>
            <a:r>
              <a:rPr lang="en-US" sz="1200" b="0" i="0" u="none" strike="noStrike" kern="1200" baseline="0" dirty="0" err="1">
                <a:solidFill>
                  <a:schemeClr val="tx1"/>
                </a:solidFill>
                <a:latin typeface="+mn-lt"/>
                <a:ea typeface="+mn-ea"/>
                <a:cs typeface="+mn-cs"/>
              </a:rPr>
              <a:t>pinkflowered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individuals would also be pink.</a:t>
            </a:r>
            <a:endParaRPr lang="en-IN" b="1" dirty="0"/>
          </a:p>
        </p:txBody>
      </p:sp>
      <p:sp>
        <p:nvSpPr>
          <p:cNvPr id="4" name="Slide Number Placeholder 3">
            <a:extLst>
              <a:ext uri="{FF2B5EF4-FFF2-40B4-BE49-F238E27FC236}">
                <a16:creationId xmlns:a16="http://schemas.microsoft.com/office/drawing/2014/main" id="{D69976D0-B921-251A-4CF5-CB492E5AF9CF}"/>
              </a:ext>
            </a:extLst>
          </p:cNvPr>
          <p:cNvSpPr>
            <a:spLocks noGrp="1"/>
          </p:cNvSpPr>
          <p:nvPr>
            <p:ph type="sldNum" sz="quarter" idx="5"/>
          </p:nvPr>
        </p:nvSpPr>
        <p:spPr/>
        <p:txBody>
          <a:bodyPr/>
          <a:lstStyle/>
          <a:p>
            <a:fld id="{CEC09B7F-E93B-5E41-8803-6FBF9202B12C}" type="slidenum">
              <a:rPr lang="en-US" smtClean="0"/>
              <a:t>7</a:t>
            </a:fld>
            <a:endParaRPr lang="en-US"/>
          </a:p>
        </p:txBody>
      </p:sp>
    </p:spTree>
    <p:extLst>
      <p:ext uri="{BB962C8B-B14F-4D97-AF65-F5344CB8AC3E}">
        <p14:creationId xmlns:p14="http://schemas.microsoft.com/office/powerpoint/2010/main" val="48365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Figure 6.2b</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(B) </a:t>
            </a:r>
            <a:r>
              <a:rPr lang="en-IN" sz="1200" b="0" i="0" u="none" strike="noStrike" kern="1200" baseline="0" dirty="0">
                <a:solidFill>
                  <a:schemeClr val="tx1"/>
                </a:solidFill>
                <a:latin typeface="+mn-lt"/>
                <a:ea typeface="+mn-ea"/>
                <a:cs typeface="+mn-cs"/>
              </a:rPr>
              <a:t>Under particulate </a:t>
            </a:r>
            <a:r>
              <a:rPr lang="en-US" sz="1200" b="0" i="0" u="none" strike="noStrike" kern="1200" baseline="0" dirty="0">
                <a:solidFill>
                  <a:schemeClr val="tx1"/>
                </a:solidFill>
                <a:latin typeface="+mn-lt"/>
                <a:ea typeface="+mn-ea"/>
                <a:cs typeface="+mn-cs"/>
              </a:rPr>
              <a:t>inheritance, the offspring of </a:t>
            </a:r>
            <a:r>
              <a:rPr lang="en-US" sz="1200" b="0" i="0" u="none" strike="noStrike" kern="1200" baseline="0" dirty="0" err="1">
                <a:solidFill>
                  <a:schemeClr val="tx1"/>
                </a:solidFill>
                <a:latin typeface="+mn-lt"/>
                <a:ea typeface="+mn-ea"/>
                <a:cs typeface="+mn-cs"/>
              </a:rPr>
              <a:t>redflowered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a:t>
            </a:r>
            <a:r>
              <a:rPr lang="en-IN" sz="1200" b="0" i="1" u="none" strike="noStrike" kern="1200" baseline="0" dirty="0">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and white-flowered (</a:t>
            </a:r>
            <a:r>
              <a:rPr lang="en-IN" sz="1200" b="0" i="1" u="none" strike="noStrike" kern="1200" baseline="0" dirty="0" err="1">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parents might also be pink (</a:t>
            </a:r>
            <a:r>
              <a:rPr lang="en-US" sz="1200" b="0" i="1" u="none" strike="noStrike" kern="1200" baseline="0" dirty="0">
                <a:solidFill>
                  <a:schemeClr val="tx1"/>
                </a:solidFill>
                <a:latin typeface="+mn-lt"/>
                <a:ea typeface="+mn-ea"/>
                <a:cs typeface="+mn-cs"/>
              </a:rPr>
              <a:t>Rr</a:t>
            </a:r>
            <a:r>
              <a:rPr lang="en-US" sz="1200" b="0" i="0" u="none" strike="noStrike" kern="1200" baseline="0" dirty="0">
                <a:solidFill>
                  <a:schemeClr val="tx1"/>
                </a:solidFill>
                <a:latin typeface="+mn-lt"/>
                <a:ea typeface="+mn-ea"/>
                <a:cs typeface="+mn-cs"/>
              </a:rPr>
              <a:t>). But these pink offspring, when crossed, could re-create the red and white </a:t>
            </a:r>
            <a:r>
              <a:rPr lang="en-IN" sz="1200" b="0" i="0" u="none" strike="noStrike" kern="1200" baseline="0" dirty="0">
                <a:solidFill>
                  <a:schemeClr val="tx1"/>
                </a:solidFill>
                <a:latin typeface="+mn-lt"/>
                <a:ea typeface="+mn-ea"/>
                <a:cs typeface="+mn-cs"/>
              </a:rPr>
              <a:t>phenotypes among their offspring.</a:t>
            </a:r>
            <a:endParaRPr lang="en-IN" b="1" dirty="0"/>
          </a:p>
        </p:txBody>
      </p:sp>
      <p:sp>
        <p:nvSpPr>
          <p:cNvPr id="4" name="Slide Number Placeholder 3"/>
          <p:cNvSpPr>
            <a:spLocks noGrp="1"/>
          </p:cNvSpPr>
          <p:nvPr>
            <p:ph type="sldNum" sz="quarter" idx="5"/>
          </p:nvPr>
        </p:nvSpPr>
        <p:spPr/>
        <p:txBody>
          <a:bodyPr/>
          <a:lstStyle/>
          <a:p>
            <a:fld id="{CEC09B7F-E93B-5E41-8803-6FBF9202B12C}" type="slidenum">
              <a:rPr lang="en-US" smtClean="0"/>
              <a:t>8</a:t>
            </a:fld>
            <a:endParaRPr lang="en-US"/>
          </a:p>
        </p:txBody>
      </p:sp>
    </p:spTree>
    <p:extLst>
      <p:ext uri="{BB962C8B-B14F-4D97-AF65-F5344CB8AC3E}">
        <p14:creationId xmlns:p14="http://schemas.microsoft.com/office/powerpoint/2010/main" val="2208848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0F5C-4FEA-1DA6-236E-85F1AF691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F733C-0DE0-1141-B241-FEE4DA469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EC83E-121C-825D-BA1A-65D80687CB69}"/>
              </a:ext>
            </a:extLst>
          </p:cNvPr>
          <p:cNvSpPr>
            <a:spLocks noGrp="1"/>
          </p:cNvSpPr>
          <p:nvPr>
            <p:ph type="body" idx="1"/>
          </p:nvPr>
        </p:nvSpPr>
        <p:spPr/>
        <p:txBody>
          <a:bodyPr/>
          <a:lstStyle/>
          <a:p>
            <a:r>
              <a:rPr lang="en-IN" b="1" dirty="0"/>
              <a:t>Figure 6.2b</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(B) </a:t>
            </a:r>
            <a:r>
              <a:rPr lang="en-IN" sz="1200" b="0" i="0" u="none" strike="noStrike" kern="1200" baseline="0" dirty="0">
                <a:solidFill>
                  <a:schemeClr val="tx1"/>
                </a:solidFill>
                <a:latin typeface="+mn-lt"/>
                <a:ea typeface="+mn-ea"/>
                <a:cs typeface="+mn-cs"/>
              </a:rPr>
              <a:t>Under particulate </a:t>
            </a:r>
            <a:r>
              <a:rPr lang="en-US" sz="1200" b="0" i="0" u="none" strike="noStrike" kern="1200" baseline="0" dirty="0">
                <a:solidFill>
                  <a:schemeClr val="tx1"/>
                </a:solidFill>
                <a:latin typeface="+mn-lt"/>
                <a:ea typeface="+mn-ea"/>
                <a:cs typeface="+mn-cs"/>
              </a:rPr>
              <a:t>inheritance, the offspring of </a:t>
            </a:r>
            <a:r>
              <a:rPr lang="en-US" sz="1200" b="0" i="0" u="none" strike="noStrike" kern="1200" baseline="0" dirty="0" err="1">
                <a:solidFill>
                  <a:schemeClr val="tx1"/>
                </a:solidFill>
                <a:latin typeface="+mn-lt"/>
                <a:ea typeface="+mn-ea"/>
                <a:cs typeface="+mn-cs"/>
              </a:rPr>
              <a:t>redflowered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a:t>
            </a:r>
            <a:r>
              <a:rPr lang="en-IN" sz="1200" b="0" i="1" u="none" strike="noStrike" kern="1200" baseline="0" dirty="0">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and white-flowered (</a:t>
            </a:r>
            <a:r>
              <a:rPr lang="en-IN" sz="1200" b="0" i="1" u="none" strike="noStrike" kern="1200" baseline="0" dirty="0" err="1">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parents might also be pink (</a:t>
            </a:r>
            <a:r>
              <a:rPr lang="en-US" sz="1200" b="0" i="1" u="none" strike="noStrike" kern="1200" baseline="0" dirty="0">
                <a:solidFill>
                  <a:schemeClr val="tx1"/>
                </a:solidFill>
                <a:latin typeface="+mn-lt"/>
                <a:ea typeface="+mn-ea"/>
                <a:cs typeface="+mn-cs"/>
              </a:rPr>
              <a:t>Rr</a:t>
            </a:r>
            <a:r>
              <a:rPr lang="en-US" sz="1200" b="0" i="0" u="none" strike="noStrike" kern="1200" baseline="0" dirty="0">
                <a:solidFill>
                  <a:schemeClr val="tx1"/>
                </a:solidFill>
                <a:latin typeface="+mn-lt"/>
                <a:ea typeface="+mn-ea"/>
                <a:cs typeface="+mn-cs"/>
              </a:rPr>
              <a:t>). But these pink offspring, when crossed, could re-create the red and white </a:t>
            </a:r>
            <a:r>
              <a:rPr lang="en-IN" sz="1200" b="0" i="0" u="none" strike="noStrike" kern="1200" baseline="0" dirty="0">
                <a:solidFill>
                  <a:schemeClr val="tx1"/>
                </a:solidFill>
                <a:latin typeface="+mn-lt"/>
                <a:ea typeface="+mn-ea"/>
                <a:cs typeface="+mn-cs"/>
              </a:rPr>
              <a:t>phenotypes among their offspring.</a:t>
            </a:r>
            <a:endParaRPr lang="en-IN" b="1" dirty="0"/>
          </a:p>
        </p:txBody>
      </p:sp>
      <p:sp>
        <p:nvSpPr>
          <p:cNvPr id="4" name="Slide Number Placeholder 3">
            <a:extLst>
              <a:ext uri="{FF2B5EF4-FFF2-40B4-BE49-F238E27FC236}">
                <a16:creationId xmlns:a16="http://schemas.microsoft.com/office/drawing/2014/main" id="{A33B595A-3604-1C32-8ED5-CC210851B73E}"/>
              </a:ext>
            </a:extLst>
          </p:cNvPr>
          <p:cNvSpPr>
            <a:spLocks noGrp="1"/>
          </p:cNvSpPr>
          <p:nvPr>
            <p:ph type="sldNum" sz="quarter" idx="5"/>
          </p:nvPr>
        </p:nvSpPr>
        <p:spPr/>
        <p:txBody>
          <a:bodyPr/>
          <a:lstStyle/>
          <a:p>
            <a:fld id="{CEC09B7F-E93B-5E41-8803-6FBF9202B12C}" type="slidenum">
              <a:rPr lang="en-US" smtClean="0"/>
              <a:t>9</a:t>
            </a:fld>
            <a:endParaRPr lang="en-US"/>
          </a:p>
        </p:txBody>
      </p:sp>
    </p:spTree>
    <p:extLst>
      <p:ext uri="{BB962C8B-B14F-4D97-AF65-F5344CB8AC3E}">
        <p14:creationId xmlns:p14="http://schemas.microsoft.com/office/powerpoint/2010/main" val="582213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0A80-3317-4773-B367-2B624ECDF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4BF94-3196-2781-F331-4882F2A36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F7EDB-E219-DC10-EA12-72B6DBEFACD9}"/>
              </a:ext>
            </a:extLst>
          </p:cNvPr>
          <p:cNvSpPr>
            <a:spLocks noGrp="1"/>
          </p:cNvSpPr>
          <p:nvPr>
            <p:ph type="body" idx="1"/>
          </p:nvPr>
        </p:nvSpPr>
        <p:spPr/>
        <p:txBody>
          <a:bodyPr/>
          <a:lstStyle/>
          <a:p>
            <a:r>
              <a:rPr lang="en-IN" b="1" dirty="0"/>
              <a:t>Figure 6.2b</a:t>
            </a:r>
          </a:p>
          <a:p>
            <a:r>
              <a:rPr lang="en-IN" sz="1200" b="1" i="0" u="none" strike="noStrike" kern="1200" baseline="0" dirty="0">
                <a:solidFill>
                  <a:schemeClr val="tx1"/>
                </a:solidFill>
                <a:latin typeface="+mn-lt"/>
                <a:ea typeface="+mn-ea"/>
                <a:cs typeface="+mn-cs"/>
              </a:rPr>
              <a:t>Blending inheritance versus particulate inheritance.</a:t>
            </a:r>
            <a:r>
              <a:rPr lang="en-IN" sz="1200" b="0" i="0" u="none" strike="noStrike" kern="1200" baseline="0" dirty="0">
                <a:solidFill>
                  <a:schemeClr val="tx1"/>
                </a:solidFill>
                <a:latin typeface="+mn-lt"/>
                <a:ea typeface="+mn-ea"/>
                <a:cs typeface="+mn-cs"/>
              </a:rPr>
              <a:t> Darwin, like most of his contemporaries, viewed </a:t>
            </a:r>
            <a:r>
              <a:rPr lang="en-US" sz="1200" b="0" i="0" u="none" strike="noStrike" kern="1200" baseline="0" dirty="0">
                <a:solidFill>
                  <a:schemeClr val="tx1"/>
                </a:solidFill>
                <a:latin typeface="+mn-lt"/>
                <a:ea typeface="+mn-ea"/>
                <a:cs typeface="+mn-cs"/>
              </a:rPr>
              <a:t>heredity as a blending process. In this view, offspring tend to resemble their parents—and where parents </a:t>
            </a:r>
            <a:r>
              <a:rPr lang="en-IN" sz="1200" b="0" i="0" u="none" strike="noStrike" kern="1200" baseline="0" dirty="0">
                <a:solidFill>
                  <a:schemeClr val="tx1"/>
                </a:solidFill>
                <a:latin typeface="+mn-lt"/>
                <a:ea typeface="+mn-ea"/>
                <a:cs typeface="+mn-cs"/>
              </a:rPr>
              <a:t>differ in phenotype, offspring exhibit an intermediate value. </a:t>
            </a:r>
            <a:r>
              <a:rPr lang="en-US" sz="1200" b="0" i="0" u="none" strike="noStrike" kern="1200" baseline="0" dirty="0">
                <a:solidFill>
                  <a:schemeClr val="tx1"/>
                </a:solidFill>
                <a:latin typeface="+mn-lt"/>
                <a:ea typeface="+mn-ea"/>
                <a:cs typeface="+mn-cs"/>
              </a:rPr>
              <a:t>Under this blending model, the </a:t>
            </a:r>
            <a:r>
              <a:rPr lang="en-IN" sz="1200" b="0" i="0" u="none" strike="noStrike" kern="1200" baseline="0" dirty="0">
                <a:solidFill>
                  <a:schemeClr val="tx1"/>
                </a:solidFill>
                <a:latin typeface="+mn-lt"/>
                <a:ea typeface="+mn-ea"/>
                <a:cs typeface="+mn-cs"/>
              </a:rPr>
              <a:t>process of inheritance irreversibly </a:t>
            </a:r>
            <a:r>
              <a:rPr lang="en-US" sz="1200" b="0" i="0" u="none" strike="noStrike" kern="1200" baseline="0" dirty="0">
                <a:solidFill>
                  <a:schemeClr val="tx1"/>
                </a:solidFill>
                <a:latin typeface="+mn-lt"/>
                <a:ea typeface="+mn-ea"/>
                <a:cs typeface="+mn-cs"/>
              </a:rPr>
              <a:t>reduces variation in the population. </a:t>
            </a:r>
            <a:r>
              <a:rPr lang="en-IN" sz="1200" b="1" i="0" u="none" strike="noStrike" kern="1200" baseline="0" dirty="0">
                <a:solidFill>
                  <a:schemeClr val="tx1"/>
                </a:solidFill>
                <a:latin typeface="+mn-lt"/>
                <a:ea typeface="+mn-ea"/>
                <a:cs typeface="+mn-cs"/>
              </a:rPr>
              <a:t>(B) </a:t>
            </a:r>
            <a:r>
              <a:rPr lang="en-IN" sz="1200" b="0" i="0" u="none" strike="noStrike" kern="1200" baseline="0" dirty="0">
                <a:solidFill>
                  <a:schemeClr val="tx1"/>
                </a:solidFill>
                <a:latin typeface="+mn-lt"/>
                <a:ea typeface="+mn-ea"/>
                <a:cs typeface="+mn-cs"/>
              </a:rPr>
              <a:t>Under particulate </a:t>
            </a:r>
            <a:r>
              <a:rPr lang="en-US" sz="1200" b="0" i="0" u="none" strike="noStrike" kern="1200" baseline="0" dirty="0">
                <a:solidFill>
                  <a:schemeClr val="tx1"/>
                </a:solidFill>
                <a:latin typeface="+mn-lt"/>
                <a:ea typeface="+mn-ea"/>
                <a:cs typeface="+mn-cs"/>
              </a:rPr>
              <a:t>inheritance, the offspring of </a:t>
            </a:r>
            <a:r>
              <a:rPr lang="en-US" sz="1200" b="0" i="0" u="none" strike="noStrike" kern="1200" baseline="0" dirty="0" err="1">
                <a:solidFill>
                  <a:schemeClr val="tx1"/>
                </a:solidFill>
                <a:latin typeface="+mn-lt"/>
                <a:ea typeface="+mn-ea"/>
                <a:cs typeface="+mn-cs"/>
              </a:rPr>
              <a:t>redflowered</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a:t>
            </a:r>
            <a:r>
              <a:rPr lang="en-IN" sz="1200" b="0" i="1" u="none" strike="noStrike" kern="1200" baseline="0" dirty="0">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and white-flowered (</a:t>
            </a:r>
            <a:r>
              <a:rPr lang="en-IN" sz="1200" b="0" i="1" u="none" strike="noStrike" kern="1200" baseline="0" dirty="0" err="1">
                <a:solidFill>
                  <a:schemeClr val="tx1"/>
                </a:solidFill>
                <a:latin typeface="+mn-lt"/>
                <a:ea typeface="+mn-ea"/>
                <a:cs typeface="+mn-cs"/>
              </a:rPr>
              <a:t>rr</a:t>
            </a: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parents might also be pink (</a:t>
            </a:r>
            <a:r>
              <a:rPr lang="en-US" sz="1200" b="0" i="1" u="none" strike="noStrike" kern="1200" baseline="0" dirty="0">
                <a:solidFill>
                  <a:schemeClr val="tx1"/>
                </a:solidFill>
                <a:latin typeface="+mn-lt"/>
                <a:ea typeface="+mn-ea"/>
                <a:cs typeface="+mn-cs"/>
              </a:rPr>
              <a:t>Rr</a:t>
            </a:r>
            <a:r>
              <a:rPr lang="en-US" sz="1200" b="0" i="0" u="none" strike="noStrike" kern="1200" baseline="0" dirty="0">
                <a:solidFill>
                  <a:schemeClr val="tx1"/>
                </a:solidFill>
                <a:latin typeface="+mn-lt"/>
                <a:ea typeface="+mn-ea"/>
                <a:cs typeface="+mn-cs"/>
              </a:rPr>
              <a:t>). But these pink offspring, when crossed, could re-create the red and white </a:t>
            </a:r>
            <a:r>
              <a:rPr lang="en-IN" sz="1200" b="0" i="0" u="none" strike="noStrike" kern="1200" baseline="0" dirty="0">
                <a:solidFill>
                  <a:schemeClr val="tx1"/>
                </a:solidFill>
                <a:latin typeface="+mn-lt"/>
                <a:ea typeface="+mn-ea"/>
                <a:cs typeface="+mn-cs"/>
              </a:rPr>
              <a:t>phenotypes among their offspring.</a:t>
            </a:r>
            <a:endParaRPr lang="en-IN" b="1" dirty="0"/>
          </a:p>
        </p:txBody>
      </p:sp>
      <p:sp>
        <p:nvSpPr>
          <p:cNvPr id="4" name="Slide Number Placeholder 3">
            <a:extLst>
              <a:ext uri="{FF2B5EF4-FFF2-40B4-BE49-F238E27FC236}">
                <a16:creationId xmlns:a16="http://schemas.microsoft.com/office/drawing/2014/main" id="{D38ACCCA-6DFF-2CF4-667A-A9C2959E8D3C}"/>
              </a:ext>
            </a:extLst>
          </p:cNvPr>
          <p:cNvSpPr>
            <a:spLocks noGrp="1"/>
          </p:cNvSpPr>
          <p:nvPr>
            <p:ph type="sldNum" sz="quarter" idx="5"/>
          </p:nvPr>
        </p:nvSpPr>
        <p:spPr/>
        <p:txBody>
          <a:bodyPr/>
          <a:lstStyle/>
          <a:p>
            <a:fld id="{CEC09B7F-E93B-5E41-8803-6FBF9202B12C}" type="slidenum">
              <a:rPr lang="en-US" smtClean="0"/>
              <a:t>10</a:t>
            </a:fld>
            <a:endParaRPr lang="en-US"/>
          </a:p>
        </p:txBody>
      </p:sp>
    </p:spTree>
    <p:extLst>
      <p:ext uri="{BB962C8B-B14F-4D97-AF65-F5344CB8AC3E}">
        <p14:creationId xmlns:p14="http://schemas.microsoft.com/office/powerpoint/2010/main" val="2562526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Figure 6.9</a:t>
            </a:r>
          </a:p>
          <a:p>
            <a:r>
              <a:rPr lang="en-IN" sz="1200" b="1" i="0" u="none" strike="noStrike" kern="1200" baseline="0" dirty="0">
                <a:solidFill>
                  <a:schemeClr val="tx1"/>
                </a:solidFill>
                <a:latin typeface="+mn-lt"/>
                <a:ea typeface="+mn-ea"/>
                <a:cs typeface="+mn-cs"/>
              </a:rPr>
              <a:t>Dominance </a:t>
            </a:r>
            <a:r>
              <a:rPr lang="en-US" sz="1200" b="1" i="0" u="none" strike="noStrike" kern="1200" baseline="0" dirty="0">
                <a:solidFill>
                  <a:schemeClr val="tx1"/>
                </a:solidFill>
                <a:latin typeface="+mn-lt"/>
                <a:ea typeface="+mn-ea"/>
                <a:cs typeface="+mn-cs"/>
              </a:rPr>
              <a:t>relationships.</a:t>
            </a:r>
            <a:r>
              <a:rPr lang="en-US" sz="1200" b="0" i="0" u="none" strike="noStrike" kern="1200" baseline="0" dirty="0">
                <a:solidFill>
                  <a:schemeClr val="tx1"/>
                </a:solidFill>
                <a:latin typeface="+mn-lt"/>
                <a:ea typeface="+mn-ea"/>
                <a:cs typeface="+mn-cs"/>
              </a:rPr>
              <a:t> </a:t>
            </a:r>
            <a:r>
              <a:rPr lang="en-US" sz="1200" b="1" i="0" u="none" strike="noStrike" kern="1200" baseline="0" dirty="0">
                <a:solidFill>
                  <a:schemeClr val="tx1"/>
                </a:solidFill>
                <a:latin typeface="+mn-lt"/>
                <a:ea typeface="+mn-ea"/>
                <a:cs typeface="+mn-cs"/>
              </a:rPr>
              <a:t>(A) </a:t>
            </a:r>
            <a:r>
              <a:rPr lang="en-US" sz="1200" b="0" i="0" u="none" strike="noStrike" kern="1200" baseline="0" dirty="0">
                <a:solidFill>
                  <a:schemeClr val="tx1"/>
                </a:solidFill>
                <a:latin typeface="+mn-lt"/>
                <a:ea typeface="+mn-ea"/>
                <a:cs typeface="+mn-cs"/>
              </a:rPr>
              <a:t>If the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allele is dominant and the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allele is recessive, then the </a:t>
            </a:r>
            <a:r>
              <a:rPr lang="en-US" sz="1200" b="0" i="1" u="none" strike="noStrike" kern="1200" baseline="0" dirty="0">
                <a:solidFill>
                  <a:schemeClr val="tx1"/>
                </a:solidFill>
                <a:latin typeface="+mn-lt"/>
                <a:ea typeface="+mn-ea"/>
                <a:cs typeface="+mn-cs"/>
              </a:rPr>
              <a:t>RR </a:t>
            </a:r>
            <a:r>
              <a:rPr lang="en-US" sz="1200" b="0" i="0" u="none" strike="noStrike" kern="1200" baseline="0" dirty="0">
                <a:solidFill>
                  <a:schemeClr val="tx1"/>
                </a:solidFill>
                <a:latin typeface="+mn-lt"/>
                <a:ea typeface="+mn-ea"/>
                <a:cs typeface="+mn-cs"/>
              </a:rPr>
              <a:t>homozygote and the </a:t>
            </a:r>
            <a:r>
              <a:rPr lang="en-US" sz="1200" b="0" i="1" u="none" strike="noStrike" kern="1200" baseline="0" dirty="0">
                <a:solidFill>
                  <a:schemeClr val="tx1"/>
                </a:solidFill>
                <a:latin typeface="+mn-lt"/>
                <a:ea typeface="+mn-ea"/>
                <a:cs typeface="+mn-cs"/>
              </a:rPr>
              <a:t>Rr </a:t>
            </a:r>
            <a:r>
              <a:rPr lang="en-US" sz="1200" b="0" i="0" u="none" strike="noStrike" kern="1200" baseline="0" dirty="0">
                <a:solidFill>
                  <a:schemeClr val="tx1"/>
                </a:solidFill>
                <a:latin typeface="+mn-lt"/>
                <a:ea typeface="+mn-ea"/>
                <a:cs typeface="+mn-cs"/>
              </a:rPr>
              <a:t>heterozygote reveal the same phenotype. </a:t>
            </a:r>
            <a:r>
              <a:rPr lang="en-US" sz="1200" b="1" i="0" u="none" strike="noStrike" kern="1200" baseline="0" dirty="0">
                <a:solidFill>
                  <a:schemeClr val="tx1"/>
                </a:solidFill>
                <a:latin typeface="+mn-lt"/>
                <a:ea typeface="+mn-ea"/>
                <a:cs typeface="+mn-cs"/>
              </a:rPr>
              <a:t>(B) </a:t>
            </a:r>
            <a:r>
              <a:rPr lang="en-US" sz="1200" b="0" i="0" u="none" strike="noStrike" kern="1200" baseline="0" dirty="0">
                <a:solidFill>
                  <a:schemeClr val="tx1"/>
                </a:solidFill>
                <a:latin typeface="+mn-lt"/>
                <a:ea typeface="+mn-ea"/>
                <a:cs typeface="+mn-cs"/>
              </a:rPr>
              <a:t>If the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alleles </a:t>
            </a:r>
            <a:r>
              <a:rPr lang="en-IN" sz="1200" b="0" i="0" u="none" strike="noStrike" kern="1200" baseline="0" dirty="0">
                <a:solidFill>
                  <a:schemeClr val="tx1"/>
                </a:solidFill>
                <a:latin typeface="+mn-lt"/>
                <a:ea typeface="+mn-ea"/>
                <a:cs typeface="+mn-cs"/>
              </a:rPr>
              <a:t>exhibit incomplete dominance, </a:t>
            </a:r>
            <a:r>
              <a:rPr lang="en-US" sz="1200" b="0" i="0" u="none" strike="noStrike" kern="1200" baseline="0" dirty="0">
                <a:solidFill>
                  <a:schemeClr val="tx1"/>
                </a:solidFill>
                <a:latin typeface="+mn-lt"/>
                <a:ea typeface="+mn-ea"/>
                <a:cs typeface="+mn-cs"/>
              </a:rPr>
              <a:t>then the </a:t>
            </a:r>
            <a:r>
              <a:rPr lang="en-US" sz="1200" b="0" i="1" u="none" strike="noStrike" kern="1200" baseline="0" dirty="0">
                <a:solidFill>
                  <a:schemeClr val="tx1"/>
                </a:solidFill>
                <a:latin typeface="+mn-lt"/>
                <a:ea typeface="+mn-ea"/>
                <a:cs typeface="+mn-cs"/>
              </a:rPr>
              <a:t>Rr </a:t>
            </a:r>
            <a:r>
              <a:rPr lang="en-US" sz="1200" b="0" i="0" u="none" strike="noStrike" kern="1200" baseline="0" dirty="0">
                <a:solidFill>
                  <a:schemeClr val="tx1"/>
                </a:solidFill>
                <a:latin typeface="+mn-lt"/>
                <a:ea typeface="+mn-ea"/>
                <a:cs typeface="+mn-cs"/>
              </a:rPr>
              <a:t>heterozygote manifests a phenotype that is intermediate between that of the </a:t>
            </a:r>
            <a:r>
              <a:rPr lang="en-US" sz="1200" b="0" i="1" u="none" strike="noStrike" kern="1200" baseline="0" dirty="0">
                <a:solidFill>
                  <a:schemeClr val="tx1"/>
                </a:solidFill>
                <a:latin typeface="+mn-lt"/>
                <a:ea typeface="+mn-ea"/>
                <a:cs typeface="+mn-cs"/>
              </a:rPr>
              <a:t>RR </a:t>
            </a:r>
            <a:r>
              <a:rPr lang="en-US" sz="1200" b="0" i="0" u="none" strike="noStrike" kern="1200" baseline="0" dirty="0">
                <a:solidFill>
                  <a:schemeClr val="tx1"/>
                </a:solidFill>
                <a:latin typeface="+mn-lt"/>
                <a:ea typeface="+mn-ea"/>
                <a:cs typeface="+mn-cs"/>
              </a:rPr>
              <a:t>homozygote</a:t>
            </a:r>
          </a:p>
          <a:p>
            <a:r>
              <a:rPr lang="en-IN" sz="1200" b="0" i="0" u="none" strike="noStrike" kern="1200" baseline="0" dirty="0">
                <a:solidFill>
                  <a:schemeClr val="tx1"/>
                </a:solidFill>
                <a:latin typeface="+mn-lt"/>
                <a:ea typeface="+mn-ea"/>
                <a:cs typeface="+mn-cs"/>
              </a:rPr>
              <a:t>and the </a:t>
            </a:r>
            <a:r>
              <a:rPr lang="en-IN" sz="1200" b="0" i="1" u="none" strike="noStrike" kern="1200" baseline="0" dirty="0" err="1">
                <a:solidFill>
                  <a:schemeClr val="tx1"/>
                </a:solidFill>
                <a:latin typeface="+mn-lt"/>
                <a:ea typeface="+mn-ea"/>
                <a:cs typeface="+mn-cs"/>
              </a:rPr>
              <a:t>rr</a:t>
            </a:r>
            <a:r>
              <a:rPr lang="en-IN" sz="1200" b="0" i="1"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homozygote.</a:t>
            </a:r>
            <a:endParaRPr lang="en-IN" b="1" dirty="0"/>
          </a:p>
        </p:txBody>
      </p:sp>
      <p:sp>
        <p:nvSpPr>
          <p:cNvPr id="4" name="Slide Number Placeholder 3"/>
          <p:cNvSpPr>
            <a:spLocks noGrp="1"/>
          </p:cNvSpPr>
          <p:nvPr>
            <p:ph type="sldNum" sz="quarter" idx="5"/>
          </p:nvPr>
        </p:nvSpPr>
        <p:spPr/>
        <p:txBody>
          <a:bodyPr/>
          <a:lstStyle/>
          <a:p>
            <a:fld id="{CEC09B7F-E93B-5E41-8803-6FBF9202B12C}" type="slidenum">
              <a:rPr lang="en-US" smtClean="0"/>
              <a:t>11</a:t>
            </a:fld>
            <a:endParaRPr lang="en-US"/>
          </a:p>
        </p:txBody>
      </p:sp>
    </p:spTree>
    <p:extLst>
      <p:ext uri="{BB962C8B-B14F-4D97-AF65-F5344CB8AC3E}">
        <p14:creationId xmlns:p14="http://schemas.microsoft.com/office/powerpoint/2010/main" val="1771229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Figure 7.2</a:t>
            </a:r>
          </a:p>
          <a:p>
            <a:r>
              <a:rPr lang="en-IN" sz="1200" b="1" i="0" u="none" strike="noStrike" kern="1200" baseline="0" dirty="0">
                <a:solidFill>
                  <a:schemeClr val="tx1"/>
                </a:solidFill>
                <a:latin typeface="+mn-lt"/>
                <a:ea typeface="+mn-ea"/>
                <a:cs typeface="+mn-cs"/>
              </a:rPr>
              <a:t>The genetics of brachydactyly.</a:t>
            </a:r>
            <a:r>
              <a:rPr lang="en-IN" sz="1200" b="0" i="0" u="none" strike="noStrike" kern="1200" baseline="0" dirty="0">
                <a:solidFill>
                  <a:schemeClr val="tx1"/>
                </a:solidFill>
                <a:latin typeface="+mn-lt"/>
                <a:ea typeface="+mn-ea"/>
                <a:cs typeface="+mn-cs"/>
              </a:rPr>
              <a:t> Brachydactyly is a </a:t>
            </a:r>
            <a:r>
              <a:rPr lang="en-US" sz="1200" b="0" i="0" u="none" strike="noStrike" kern="1200" baseline="0" dirty="0">
                <a:solidFill>
                  <a:schemeClr val="tx1"/>
                </a:solidFill>
                <a:latin typeface="+mn-lt"/>
                <a:ea typeface="+mn-ea"/>
                <a:cs typeface="+mn-cs"/>
              </a:rPr>
              <a:t>malformation or shortening of the digits and is inherited as a dominant trait. </a:t>
            </a:r>
            <a:r>
              <a:rPr lang="en-US" sz="1200" b="0" i="1" u="none" strike="noStrike" kern="1200" baseline="0" dirty="0">
                <a:solidFill>
                  <a:schemeClr val="tx1"/>
                </a:solidFill>
                <a:latin typeface="+mn-lt"/>
                <a:ea typeface="+mn-ea"/>
                <a:cs typeface="+mn-cs"/>
              </a:rPr>
              <a:t>BB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Bb </a:t>
            </a:r>
            <a:r>
              <a:rPr lang="en-US" sz="1200" b="0" i="0" u="none" strike="noStrike" kern="1200" baseline="0" dirty="0">
                <a:solidFill>
                  <a:schemeClr val="tx1"/>
                </a:solidFill>
                <a:latin typeface="+mn-lt"/>
                <a:ea typeface="+mn-ea"/>
                <a:cs typeface="+mn-cs"/>
              </a:rPr>
              <a:t>individuals show</a:t>
            </a:r>
          </a:p>
          <a:p>
            <a:r>
              <a:rPr lang="en-IN" sz="1200" b="0" i="0" u="none" strike="noStrike" kern="1200" baseline="0" dirty="0">
                <a:solidFill>
                  <a:schemeClr val="tx1"/>
                </a:solidFill>
                <a:latin typeface="+mn-lt"/>
                <a:ea typeface="+mn-ea"/>
                <a:cs typeface="+mn-cs"/>
              </a:rPr>
              <a:t>malformed or shortened fingers, </a:t>
            </a:r>
            <a:r>
              <a:rPr lang="en-US" sz="1200" b="0" i="0" u="none" strike="noStrike" kern="1200" baseline="0" dirty="0">
                <a:solidFill>
                  <a:schemeClr val="tx1"/>
                </a:solidFill>
                <a:latin typeface="+mn-lt"/>
                <a:ea typeface="+mn-ea"/>
                <a:cs typeface="+mn-cs"/>
              </a:rPr>
              <a:t>whereas </a:t>
            </a:r>
            <a:r>
              <a:rPr lang="en-US" sz="1200" b="0" i="1" u="none" strike="noStrike" kern="1200" baseline="0" dirty="0">
                <a:solidFill>
                  <a:schemeClr val="tx1"/>
                </a:solidFill>
                <a:latin typeface="+mn-lt"/>
                <a:ea typeface="+mn-ea"/>
                <a:cs typeface="+mn-cs"/>
              </a:rPr>
              <a:t>bb </a:t>
            </a:r>
            <a:r>
              <a:rPr lang="en-US" sz="1200" b="0" i="0" u="none" strike="noStrike" kern="1200" baseline="0" dirty="0">
                <a:solidFill>
                  <a:schemeClr val="tx1"/>
                </a:solidFill>
                <a:latin typeface="+mn-lt"/>
                <a:ea typeface="+mn-ea"/>
                <a:cs typeface="+mn-cs"/>
              </a:rPr>
              <a:t>individuals have normal </a:t>
            </a:r>
            <a:r>
              <a:rPr lang="en-IN" sz="1200" b="0" i="0" u="none" strike="noStrike" kern="1200" baseline="0" dirty="0">
                <a:solidFill>
                  <a:schemeClr val="tx1"/>
                </a:solidFill>
                <a:latin typeface="+mn-lt"/>
                <a:ea typeface="+mn-ea"/>
                <a:cs typeface="+mn-cs"/>
              </a:rPr>
              <a:t>fingers.</a:t>
            </a:r>
            <a:endParaRPr lang="en-IN" b="1" dirty="0"/>
          </a:p>
        </p:txBody>
      </p:sp>
      <p:sp>
        <p:nvSpPr>
          <p:cNvPr id="4" name="Slide Number Placeholder 3"/>
          <p:cNvSpPr>
            <a:spLocks noGrp="1"/>
          </p:cNvSpPr>
          <p:nvPr>
            <p:ph type="sldNum" sz="quarter" idx="5"/>
          </p:nvPr>
        </p:nvSpPr>
        <p:spPr/>
        <p:txBody>
          <a:bodyPr/>
          <a:lstStyle/>
          <a:p>
            <a:fld id="{CEC09B7F-E93B-5E41-8803-6FBF9202B12C}" type="slidenum">
              <a:rPr lang="en-US" smtClean="0"/>
              <a:t>14</a:t>
            </a:fld>
            <a:endParaRPr lang="en-US"/>
          </a:p>
        </p:txBody>
      </p:sp>
    </p:spTree>
    <p:extLst>
      <p:ext uri="{BB962C8B-B14F-4D97-AF65-F5344CB8AC3E}">
        <p14:creationId xmlns:p14="http://schemas.microsoft.com/office/powerpoint/2010/main" val="2236826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Figure 7.3</a:t>
            </a:r>
          </a:p>
          <a:p>
            <a:r>
              <a:rPr lang="en-US" sz="1200" b="1" i="0" u="none" strike="noStrike" kern="1200" baseline="0" dirty="0">
                <a:solidFill>
                  <a:schemeClr val="tx1"/>
                </a:solidFill>
                <a:latin typeface="+mn-lt"/>
                <a:ea typeface="+mn-ea"/>
                <a:cs typeface="+mn-cs"/>
              </a:rPr>
              <a:t>Individual-level thinking versus population-level thinking.</a:t>
            </a:r>
            <a:r>
              <a:rPr lang="en-US" sz="1200" b="0" i="0" u="none" strike="noStrike" kern="1200" baseline="0" dirty="0">
                <a:solidFill>
                  <a:schemeClr val="tx1"/>
                </a:solidFill>
                <a:latin typeface="+mn-lt"/>
                <a:ea typeface="+mn-ea"/>
                <a:cs typeface="+mn-cs"/>
              </a:rPr>
              <a:t> Individual-level and </a:t>
            </a:r>
            <a:r>
              <a:rPr lang="en-IN" sz="1200" b="0" i="0" u="none" strike="noStrike" kern="1200" baseline="0" dirty="0">
                <a:solidFill>
                  <a:schemeClr val="tx1"/>
                </a:solidFill>
                <a:latin typeface="+mn-lt"/>
                <a:ea typeface="+mn-ea"/>
                <a:cs typeface="+mn-cs"/>
              </a:rPr>
              <a:t>population-level approaches ask different questions.</a:t>
            </a:r>
            <a:endParaRPr lang="en-IN" b="1" dirty="0"/>
          </a:p>
        </p:txBody>
      </p:sp>
      <p:sp>
        <p:nvSpPr>
          <p:cNvPr id="4" name="Slide Number Placeholder 3"/>
          <p:cNvSpPr>
            <a:spLocks noGrp="1"/>
          </p:cNvSpPr>
          <p:nvPr>
            <p:ph type="sldNum" sz="quarter" idx="5"/>
          </p:nvPr>
        </p:nvSpPr>
        <p:spPr/>
        <p:txBody>
          <a:bodyPr/>
          <a:lstStyle/>
          <a:p>
            <a:fld id="{CEC09B7F-E93B-5E41-8803-6FBF9202B12C}" type="slidenum">
              <a:rPr lang="en-US" smtClean="0"/>
              <a:t>15</a:t>
            </a:fld>
            <a:endParaRPr lang="en-US"/>
          </a:p>
        </p:txBody>
      </p:sp>
    </p:spTree>
    <p:extLst>
      <p:ext uri="{BB962C8B-B14F-4D97-AF65-F5344CB8AC3E}">
        <p14:creationId xmlns:p14="http://schemas.microsoft.com/office/powerpoint/2010/main" val="697364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6242A-C16D-291F-186C-C5EB617853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BE7F7-21EF-610E-E310-57D462D776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12A9E6-9440-DE51-5740-9003C7337612}"/>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84CBB7B7-9B89-7DC3-128C-905A3C0E9E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F19EC-C7DF-8454-451B-D6F66F82E93B}"/>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95310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E4AE-11BC-CCB4-18C0-FFA26F8D29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AD5587-CF94-220B-D790-43833DF55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3C103-8BA6-9D5C-7F00-E1D6E3EEF26F}"/>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D7608DE8-7A66-0CD8-8995-382032947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95B23E-3FFD-9082-2630-54378DD6E452}"/>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289134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944B-57F8-B7F3-455B-12DFE561ED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C75678-3C03-E6FC-5CF5-F486B1CB45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34F452-1F09-9C44-8032-EDAB47F919B4}"/>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07502DA8-EA04-64E9-0055-43772FB6A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B99107-DF31-599D-32DF-8A6B92AB2392}"/>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814233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D6E1-B652-FFCF-D0A9-9AA7FF8A74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181FE1-A29A-76C8-F8D7-8CC1922E8E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042A31-D0D2-890D-3F52-3712AFDF8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2E99CA-F5FF-ECE7-54F2-CE89108B8D6F}"/>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6" name="Footer Placeholder 5">
            <a:extLst>
              <a:ext uri="{FF2B5EF4-FFF2-40B4-BE49-F238E27FC236}">
                <a16:creationId xmlns:a16="http://schemas.microsoft.com/office/drawing/2014/main" id="{B1F08AAD-65E3-8E91-00E2-9F38E655AF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614385-F1F8-BDFB-DD83-49419D631493}"/>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005770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1515-FBA4-2E6B-4A77-66A9B66156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B846B4-70A0-511B-E7B4-78C14AB44E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1D9032-97A8-94A4-B012-187BF7B78F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538E71-BEF5-4CF4-A836-32FBC2ABC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24F303-416D-0C49-FACD-AF7E42497B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7B2FDF-EDAD-E58C-03C6-9372859B3BFA}"/>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8" name="Footer Placeholder 7">
            <a:extLst>
              <a:ext uri="{FF2B5EF4-FFF2-40B4-BE49-F238E27FC236}">
                <a16:creationId xmlns:a16="http://schemas.microsoft.com/office/drawing/2014/main" id="{ECF95F54-69BE-100A-EBD9-0E3E20E66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BA5175-C35E-6D23-383A-CC459BDF0C5C}"/>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410780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F3A0-A2C4-FCD5-FD23-A2266E71CA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778AF-71AF-788D-FD03-091759FC116C}"/>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4" name="Footer Placeholder 3">
            <a:extLst>
              <a:ext uri="{FF2B5EF4-FFF2-40B4-BE49-F238E27FC236}">
                <a16:creationId xmlns:a16="http://schemas.microsoft.com/office/drawing/2014/main" id="{6CCF8842-58E1-B583-2891-CC19F1B64F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C5B79B-3AF9-5D52-7825-9F15647D924D}"/>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973633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FD1EFA-39B1-348C-6287-E41CE937ED69}"/>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3" name="Footer Placeholder 2">
            <a:extLst>
              <a:ext uri="{FF2B5EF4-FFF2-40B4-BE49-F238E27FC236}">
                <a16:creationId xmlns:a16="http://schemas.microsoft.com/office/drawing/2014/main" id="{22167165-BC97-514E-4D34-5AC81C6F54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9AB439-73F6-2E17-AE2F-43B249BC70BC}"/>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1511704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BDFB-A76E-758B-C3C4-2E436F45C4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5C99A2-3CF7-F011-43D0-95A74DD66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627958-797F-0E63-6BC7-DF4E8B8E10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53425D-498E-619F-BB88-C4DAE26C407A}"/>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6" name="Footer Placeholder 5">
            <a:extLst>
              <a:ext uri="{FF2B5EF4-FFF2-40B4-BE49-F238E27FC236}">
                <a16:creationId xmlns:a16="http://schemas.microsoft.com/office/drawing/2014/main" id="{F23F60D2-DE34-E1FB-DB3D-12EBC4F7C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ECE5E-0942-60A5-AE8A-6B079F3D7D43}"/>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361029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DABB-E6C1-28ED-D4E6-92C1EA48A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D7A20C-80F9-9240-381E-451593E3A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F8EC6F-757D-2684-0C55-894D45537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C1BFF6-9973-A043-AA5B-610F41DE10AD}"/>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6" name="Footer Placeholder 5">
            <a:extLst>
              <a:ext uri="{FF2B5EF4-FFF2-40B4-BE49-F238E27FC236}">
                <a16:creationId xmlns:a16="http://schemas.microsoft.com/office/drawing/2014/main" id="{C5AC2C06-916B-D4E2-E099-E5D2F7819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CE179D-B7F7-0B96-2658-B33AA4B10317}"/>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210878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73FA-690A-4E44-F8DF-4A8742B9DE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E3FE9F-F9AF-A17A-29FE-6F158468F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B67471-9D44-1C89-7DB7-121043016D48}"/>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8FE60833-ABA0-EA22-15A3-AB37DAD76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90E892-61E4-34CA-9CBA-5B5A8A796885}"/>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990028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E3A0C9-62CC-EF17-509B-5FA46F055D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78D82E-43EC-2C47-A2BB-66F91EB8B3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4E8AC4-8A2B-889F-3BE4-2C4103F12A67}"/>
              </a:ext>
            </a:extLst>
          </p:cNvPr>
          <p:cNvSpPr>
            <a:spLocks noGrp="1"/>
          </p:cNvSpPr>
          <p:nvPr>
            <p:ph type="dt" sz="half" idx="10"/>
          </p:nvPr>
        </p:nvSpPr>
        <p:spPr/>
        <p:txBody>
          <a:body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041B433A-8DFB-0FBB-8125-C4B726D0E7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8C475-5F2F-0A04-0A27-9E2C10795DB0}"/>
              </a:ext>
            </a:extLst>
          </p:cNvPr>
          <p:cNvSpPr>
            <a:spLocks noGrp="1"/>
          </p:cNvSpPr>
          <p:nvPr>
            <p:ph type="sldNum" sz="quarter" idx="12"/>
          </p:nvPr>
        </p:nvSpPr>
        <p:spPr/>
        <p:txBody>
          <a:bodyPr/>
          <a:lstStyle/>
          <a:p>
            <a:fld id="{F06BB37F-65A2-4B8E-93CC-3643A9071CED}" type="slidenum">
              <a:rPr lang="en-US" smtClean="0"/>
              <a:t>‹#›</a:t>
            </a:fld>
            <a:endParaRPr lang="en-US"/>
          </a:p>
        </p:txBody>
      </p:sp>
    </p:spTree>
    <p:extLst>
      <p:ext uri="{BB962C8B-B14F-4D97-AF65-F5344CB8AC3E}">
        <p14:creationId xmlns:p14="http://schemas.microsoft.com/office/powerpoint/2010/main" val="323653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CF0F-F0C0-4EE3-8F25-FA474328C162}"/>
              </a:ext>
            </a:extLst>
          </p:cNvPr>
          <p:cNvSpPr>
            <a:spLocks noGrp="1"/>
          </p:cNvSpPr>
          <p:nvPr>
            <p:ph type="title" hasCustomPrompt="1"/>
          </p:nvPr>
        </p:nvSpPr>
        <p:spPr>
          <a:xfrm>
            <a:off x="210239" y="6022976"/>
            <a:ext cx="6631236" cy="457200"/>
          </a:xfrm>
        </p:spPr>
        <p:txBody>
          <a:bodyPr>
            <a:normAutofit/>
          </a:bodyPr>
          <a:lstStyle>
            <a:lvl1pPr>
              <a:defRPr sz="1800" b="1"/>
            </a:lvl1pPr>
          </a:lstStyle>
          <a:p>
            <a:r>
              <a:rPr lang="en-US" dirty="0"/>
              <a:t>Add Figure/Table number &amp; credit/source information here</a:t>
            </a:r>
            <a:endParaRPr lang="en-IN" dirty="0"/>
          </a:p>
        </p:txBody>
      </p:sp>
      <p:sp>
        <p:nvSpPr>
          <p:cNvPr id="4" name="Picture Placeholder 3">
            <a:extLst>
              <a:ext uri="{FF2B5EF4-FFF2-40B4-BE49-F238E27FC236}">
                <a16:creationId xmlns:a16="http://schemas.microsoft.com/office/drawing/2014/main" id="{78A1ABAA-0DD0-4323-8B8F-BB0E02450492}"/>
              </a:ext>
            </a:extLst>
          </p:cNvPr>
          <p:cNvSpPr>
            <a:spLocks noGrp="1"/>
          </p:cNvSpPr>
          <p:nvPr>
            <p:ph type="pic" sz="quarter" idx="10"/>
          </p:nvPr>
        </p:nvSpPr>
        <p:spPr>
          <a:xfrm>
            <a:off x="1524000" y="297244"/>
            <a:ext cx="9144000" cy="5486400"/>
          </a:xfrm>
        </p:spPr>
        <p:txBody>
          <a:bodyPr/>
          <a:lstStyle/>
          <a:p>
            <a:endParaRPr lang="en-IN"/>
          </a:p>
        </p:txBody>
      </p:sp>
    </p:spTree>
    <p:extLst>
      <p:ext uri="{BB962C8B-B14F-4D97-AF65-F5344CB8AC3E}">
        <p14:creationId xmlns:p14="http://schemas.microsoft.com/office/powerpoint/2010/main" val="872059290"/>
      </p:ext>
    </p:extLst>
  </p:cSld>
  <p:clrMapOvr>
    <a:masterClrMapping/>
  </p:clrMapOvr>
  <p:extLst>
    <p:ext uri="{DCECCB84-F9BA-43D5-87BE-67443E8EF086}">
      <p15:sldGuideLst xmlns:p15="http://schemas.microsoft.com/office/powerpoint/2012/main">
        <p15:guide id="1" orient="horz" pos="792">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5DFCD1-6DD6-60BB-E24A-F2EFEE3F77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942F34-449A-77D4-3328-94AF971187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84729-A558-9BD1-7690-53B3B405F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6FD73-BA03-48A5-81CC-827FC849E091}" type="datetimeFigureOut">
              <a:rPr lang="en-US" smtClean="0"/>
              <a:t>6/2/2026</a:t>
            </a:fld>
            <a:endParaRPr lang="en-US"/>
          </a:p>
        </p:txBody>
      </p:sp>
      <p:sp>
        <p:nvSpPr>
          <p:cNvPr id="5" name="Footer Placeholder 4">
            <a:extLst>
              <a:ext uri="{FF2B5EF4-FFF2-40B4-BE49-F238E27FC236}">
                <a16:creationId xmlns:a16="http://schemas.microsoft.com/office/drawing/2014/main" id="{56F1B16B-DB06-7924-CB24-C10733928B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9B8F66-F0E2-8C04-BAF9-D7DD3AFD08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6BB37F-65A2-4B8E-93CC-3643A9071CED}" type="slidenum">
              <a:rPr lang="en-US" smtClean="0"/>
              <a:t>‹#›</a:t>
            </a:fld>
            <a:endParaRPr lang="en-US"/>
          </a:p>
        </p:txBody>
      </p:sp>
    </p:spTree>
    <p:extLst>
      <p:ext uri="{BB962C8B-B14F-4D97-AF65-F5344CB8AC3E}">
        <p14:creationId xmlns:p14="http://schemas.microsoft.com/office/powerpoint/2010/main" val="731945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6.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4B288-FA30-6DCE-403C-DD4EEF0C69F7}"/>
              </a:ext>
            </a:extLst>
          </p:cNvPr>
          <p:cNvSpPr>
            <a:spLocks noGrp="1"/>
          </p:cNvSpPr>
          <p:nvPr>
            <p:ph type="ctrTitle"/>
          </p:nvPr>
        </p:nvSpPr>
        <p:spPr/>
        <p:txBody>
          <a:bodyPr/>
          <a:lstStyle/>
          <a:p>
            <a:r>
              <a:rPr lang="en-US" dirty="0"/>
              <a:t>Intro to Population Genetics: Hardy-Weinberg</a:t>
            </a:r>
          </a:p>
        </p:txBody>
      </p:sp>
      <p:sp>
        <p:nvSpPr>
          <p:cNvPr id="3" name="Subtitle 2">
            <a:extLst>
              <a:ext uri="{FF2B5EF4-FFF2-40B4-BE49-F238E27FC236}">
                <a16:creationId xmlns:a16="http://schemas.microsoft.com/office/drawing/2014/main" id="{5DC87B19-0844-A181-C13A-82363AA8BEB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18287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22002-6BBB-06E9-2722-BFD4C356D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5B22E-5C4F-FA74-222C-ACCF2C390900}"/>
              </a:ext>
            </a:extLst>
          </p:cNvPr>
          <p:cNvSpPr>
            <a:spLocks noGrp="1"/>
          </p:cNvSpPr>
          <p:nvPr>
            <p:ph type="title"/>
          </p:nvPr>
        </p:nvSpPr>
        <p:spPr>
          <a:xfrm>
            <a:off x="202474" y="156119"/>
            <a:ext cx="10515600" cy="1325563"/>
          </a:xfrm>
        </p:spPr>
        <p:txBody>
          <a:bodyPr>
            <a:normAutofit/>
          </a:bodyPr>
          <a:lstStyle/>
          <a:p>
            <a:r>
              <a:rPr lang="en-US" sz="3200" dirty="0"/>
              <a:t>Outline</a:t>
            </a:r>
          </a:p>
        </p:txBody>
      </p:sp>
    </p:spTree>
    <p:extLst>
      <p:ext uri="{BB962C8B-B14F-4D97-AF65-F5344CB8AC3E}">
        <p14:creationId xmlns:p14="http://schemas.microsoft.com/office/powerpoint/2010/main" val="415836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EA593-EC73-C0FC-EC93-00FB93665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873DB-68FA-1302-E2B5-7F54758749FB}"/>
              </a:ext>
            </a:extLst>
          </p:cNvPr>
          <p:cNvSpPr>
            <a:spLocks noGrp="1"/>
          </p:cNvSpPr>
          <p:nvPr>
            <p:ph type="title"/>
          </p:nvPr>
        </p:nvSpPr>
        <p:spPr>
          <a:xfrm>
            <a:off x="202474" y="156119"/>
            <a:ext cx="10515600" cy="1325563"/>
          </a:xfrm>
        </p:spPr>
        <p:txBody>
          <a:bodyPr>
            <a:normAutofit/>
          </a:bodyPr>
          <a:lstStyle/>
          <a:p>
            <a:r>
              <a:rPr lang="en-US" sz="3200" dirty="0"/>
              <a:t>Qualitative vs Quantitative Predictions</a:t>
            </a:r>
          </a:p>
        </p:txBody>
      </p:sp>
    </p:spTree>
    <p:extLst>
      <p:ext uri="{BB962C8B-B14F-4D97-AF65-F5344CB8AC3E}">
        <p14:creationId xmlns:p14="http://schemas.microsoft.com/office/powerpoint/2010/main" val="2377113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B842-9AF6-51BA-A7F8-CC6B17B2C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9E84F-251B-18E4-E8CD-6EBA26FF0F5D}"/>
              </a:ext>
            </a:extLst>
          </p:cNvPr>
          <p:cNvSpPr>
            <a:spLocks noGrp="1"/>
          </p:cNvSpPr>
          <p:nvPr>
            <p:ph type="title"/>
          </p:nvPr>
        </p:nvSpPr>
        <p:spPr>
          <a:xfrm>
            <a:off x="202474" y="156119"/>
            <a:ext cx="10515600" cy="1325563"/>
          </a:xfrm>
        </p:spPr>
        <p:txBody>
          <a:bodyPr>
            <a:normAutofit/>
          </a:bodyPr>
          <a:lstStyle/>
          <a:p>
            <a:r>
              <a:rPr lang="en-US" sz="3200" dirty="0"/>
              <a:t>Blending vs Particulate Inheritance</a:t>
            </a:r>
          </a:p>
        </p:txBody>
      </p:sp>
    </p:spTree>
    <p:extLst>
      <p:ext uri="{BB962C8B-B14F-4D97-AF65-F5344CB8AC3E}">
        <p14:creationId xmlns:p14="http://schemas.microsoft.com/office/powerpoint/2010/main" val="577772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A diagram shows blending inheritance. In blending inheritance, red and white flowered parents produce two pink flowered offspring. The four offspring of the two pink flowered plants are also pink.">
            <a:extLst>
              <a:ext uri="{FF2B5EF4-FFF2-40B4-BE49-F238E27FC236}">
                <a16:creationId xmlns:a16="http://schemas.microsoft.com/office/drawing/2014/main" id="{FB23325A-6A1B-4857-839E-BB1E81A10294}"/>
              </a:ext>
            </a:extLst>
          </p:cNvPr>
          <p:cNvPicPr>
            <a:picLocks noGrp="1" noChangeAspect="1"/>
          </p:cNvPicPr>
          <p:nvPr>
            <p:ph type="pic" sz="quarter" idx="10"/>
          </p:nvPr>
        </p:nvPicPr>
        <p:blipFill>
          <a:blip r:embed="rId3"/>
          <a:srcRect t="2763" b="66775"/>
          <a:stretch>
            <a:fillRect/>
          </a:stretch>
        </p:blipFill>
        <p:spPr>
          <a:xfrm>
            <a:off x="2768049" y="1579519"/>
            <a:ext cx="6655901" cy="4316186"/>
          </a:xfrm>
          <a:prstGeom prst="rect">
            <a:avLst/>
          </a:prstGeom>
        </p:spPr>
      </p:pic>
    </p:spTree>
    <p:extLst>
      <p:ext uri="{BB962C8B-B14F-4D97-AF65-F5344CB8AC3E}">
        <p14:creationId xmlns:p14="http://schemas.microsoft.com/office/powerpoint/2010/main" val="3300962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C1BF8-F43D-CF40-09D8-92B44075E4A9}"/>
            </a:ext>
          </a:extLst>
        </p:cNvPr>
        <p:cNvGrpSpPr/>
        <p:nvPr/>
      </p:nvGrpSpPr>
      <p:grpSpPr>
        <a:xfrm>
          <a:off x="0" y="0"/>
          <a:ext cx="0" cy="0"/>
          <a:chOff x="0" y="0"/>
          <a:chExt cx="0" cy="0"/>
        </a:xfrm>
      </p:grpSpPr>
      <p:pic>
        <p:nvPicPr>
          <p:cNvPr id="5" name="Picture 2" descr="A diagram shows blending inheritance. In blending inheritance, red and white flowered parents produce two pink flowered offspring. The four offspring of the two pink flowered plants are also pink.">
            <a:extLst>
              <a:ext uri="{FF2B5EF4-FFF2-40B4-BE49-F238E27FC236}">
                <a16:creationId xmlns:a16="http://schemas.microsoft.com/office/drawing/2014/main" id="{3CD3F89A-89E6-9BBD-779A-5F22D43B6F93}"/>
              </a:ext>
            </a:extLst>
          </p:cNvPr>
          <p:cNvPicPr>
            <a:picLocks noGrp="1" noChangeAspect="1"/>
          </p:cNvPicPr>
          <p:nvPr>
            <p:ph type="pic" sz="quarter" idx="10"/>
          </p:nvPr>
        </p:nvPicPr>
        <p:blipFill>
          <a:blip r:embed="rId3"/>
          <a:srcRect t="2723" b="33049"/>
          <a:stretch>
            <a:fillRect/>
          </a:stretch>
        </p:blipFill>
        <p:spPr>
          <a:xfrm>
            <a:off x="3868955" y="635725"/>
            <a:ext cx="4454090" cy="6090093"/>
          </a:xfrm>
          <a:prstGeom prst="rect">
            <a:avLst/>
          </a:prstGeom>
        </p:spPr>
      </p:pic>
    </p:spTree>
    <p:extLst>
      <p:ext uri="{BB962C8B-B14F-4D97-AF65-F5344CB8AC3E}">
        <p14:creationId xmlns:p14="http://schemas.microsoft.com/office/powerpoint/2010/main" val="355484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632FD-48D6-7B10-4244-ED79120A7C96}"/>
            </a:ext>
          </a:extLst>
        </p:cNvPr>
        <p:cNvGrpSpPr/>
        <p:nvPr/>
      </p:nvGrpSpPr>
      <p:grpSpPr>
        <a:xfrm>
          <a:off x="0" y="0"/>
          <a:ext cx="0" cy="0"/>
          <a:chOff x="0" y="0"/>
          <a:chExt cx="0" cy="0"/>
        </a:xfrm>
      </p:grpSpPr>
      <p:pic>
        <p:nvPicPr>
          <p:cNvPr id="5" name="Picture 2" descr="A diagram shows blending inheritance. In blending inheritance, red and white flowered parents produce two pink flowered offspring. The four offspring of the two pink flowered plants are also pink.">
            <a:extLst>
              <a:ext uri="{FF2B5EF4-FFF2-40B4-BE49-F238E27FC236}">
                <a16:creationId xmlns:a16="http://schemas.microsoft.com/office/drawing/2014/main" id="{FA718B33-1A9C-9A22-8B35-CCACE0F0AF76}"/>
              </a:ext>
            </a:extLst>
          </p:cNvPr>
          <p:cNvPicPr>
            <a:picLocks noGrp="1" noChangeAspect="1"/>
          </p:cNvPicPr>
          <p:nvPr>
            <p:ph type="pic" sz="quarter" idx="10"/>
          </p:nvPr>
        </p:nvPicPr>
        <p:blipFill>
          <a:blip r:embed="rId3"/>
          <a:srcRect t="2867"/>
          <a:stretch>
            <a:fillRect/>
          </a:stretch>
        </p:blipFill>
        <p:spPr>
          <a:xfrm>
            <a:off x="4672493" y="862147"/>
            <a:ext cx="2847013" cy="5887031"/>
          </a:xfrm>
          <a:prstGeom prst="rect">
            <a:avLst/>
          </a:prstGeom>
        </p:spPr>
      </p:pic>
    </p:spTree>
    <p:extLst>
      <p:ext uri="{BB962C8B-B14F-4D97-AF65-F5344CB8AC3E}">
        <p14:creationId xmlns:p14="http://schemas.microsoft.com/office/powerpoint/2010/main" val="2646630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A diagram that shows particulate inheritance. In particulate inheritance, a red flowered parent of type uppercase R uppercase R and white flowered parent of type lowercase r lowercase r produce two pink flowered offspring of type Uppercase R lowercase r. These two pink flowered offspring, when crossed, produce the following offspring: a red flower of type uppercase R uppercase R; two pink flowers of type uppercase R lowercase r; and a white flower of type lowercase r lowercase r.">
            <a:extLst>
              <a:ext uri="{FF2B5EF4-FFF2-40B4-BE49-F238E27FC236}">
                <a16:creationId xmlns:a16="http://schemas.microsoft.com/office/drawing/2014/main" id="{FB23325A-6A1B-4857-839E-BB1E81A10294}"/>
              </a:ext>
            </a:extLst>
          </p:cNvPr>
          <p:cNvPicPr>
            <a:picLocks noGrp="1" noChangeAspect="1"/>
          </p:cNvPicPr>
          <p:nvPr>
            <p:ph type="pic" sz="quarter" idx="10"/>
          </p:nvPr>
        </p:nvPicPr>
        <p:blipFill>
          <a:blip r:embed="rId3"/>
          <a:srcRect t="2148" b="64660"/>
          <a:stretch>
            <a:fillRect/>
          </a:stretch>
        </p:blipFill>
        <p:spPr>
          <a:xfrm>
            <a:off x="1209596" y="1907176"/>
            <a:ext cx="4498528" cy="3178629"/>
          </a:xfrm>
          <a:prstGeom prst="rect">
            <a:avLst/>
          </a:prstGeom>
        </p:spPr>
      </p:pic>
    </p:spTree>
    <p:extLst>
      <p:ext uri="{BB962C8B-B14F-4D97-AF65-F5344CB8AC3E}">
        <p14:creationId xmlns:p14="http://schemas.microsoft.com/office/powerpoint/2010/main" val="2382061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8114-CD6A-6758-2810-D9D2EEC8C339}"/>
            </a:ext>
          </a:extLst>
        </p:cNvPr>
        <p:cNvGrpSpPr/>
        <p:nvPr/>
      </p:nvGrpSpPr>
      <p:grpSpPr>
        <a:xfrm>
          <a:off x="0" y="0"/>
          <a:ext cx="0" cy="0"/>
          <a:chOff x="0" y="0"/>
          <a:chExt cx="0" cy="0"/>
        </a:xfrm>
      </p:grpSpPr>
      <p:pic>
        <p:nvPicPr>
          <p:cNvPr id="5" name="Picture 2" descr="A diagram that shows particulate inheritance. In particulate inheritance, a red flowered parent of type uppercase R uppercase R and white flowered parent of type lowercase r lowercase r produce two pink flowered offspring of type Uppercase R lowercase r. These two pink flowered offspring, when crossed, produce the following offspring: a red flower of type uppercase R uppercase R; two pink flowers of type uppercase R lowercase r; and a white flower of type lowercase r lowercase r.">
            <a:extLst>
              <a:ext uri="{FF2B5EF4-FFF2-40B4-BE49-F238E27FC236}">
                <a16:creationId xmlns:a16="http://schemas.microsoft.com/office/drawing/2014/main" id="{CA7B8856-4111-DDFF-9F08-780F55D3FC68}"/>
              </a:ext>
            </a:extLst>
          </p:cNvPr>
          <p:cNvPicPr>
            <a:picLocks noGrp="1" noChangeAspect="1"/>
          </p:cNvPicPr>
          <p:nvPr>
            <p:ph type="pic" sz="quarter" idx="10"/>
          </p:nvPr>
        </p:nvPicPr>
        <p:blipFill>
          <a:blip r:embed="rId3"/>
          <a:srcRect t="2293" b="33192"/>
          <a:stretch>
            <a:fillRect/>
          </a:stretch>
        </p:blipFill>
        <p:spPr>
          <a:xfrm>
            <a:off x="1589658" y="1628501"/>
            <a:ext cx="2847013" cy="3910149"/>
          </a:xfrm>
          <a:prstGeom prst="rect">
            <a:avLst/>
          </a:prstGeom>
        </p:spPr>
      </p:pic>
    </p:spTree>
    <p:extLst>
      <p:ext uri="{BB962C8B-B14F-4D97-AF65-F5344CB8AC3E}">
        <p14:creationId xmlns:p14="http://schemas.microsoft.com/office/powerpoint/2010/main" val="162706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0AEF9-AF47-A40E-CF4C-AF1C9E4D2B0A}"/>
            </a:ext>
          </a:extLst>
        </p:cNvPr>
        <p:cNvGrpSpPr/>
        <p:nvPr/>
      </p:nvGrpSpPr>
      <p:grpSpPr>
        <a:xfrm>
          <a:off x="0" y="0"/>
          <a:ext cx="0" cy="0"/>
          <a:chOff x="0" y="0"/>
          <a:chExt cx="0" cy="0"/>
        </a:xfrm>
      </p:grpSpPr>
      <p:pic>
        <p:nvPicPr>
          <p:cNvPr id="5" name="Picture 2" descr="A diagram that shows particulate inheritance. In particulate inheritance, a red flowered parent of type uppercase R uppercase R and white flowered parent of type lowercase r lowercase r produce two pink flowered offspring of type Uppercase R lowercase r. These two pink flowered offspring, when crossed, produce the following offspring: a red flower of type uppercase R uppercase R; two pink flowers of type uppercase R lowercase r; and a white flower of type lowercase r lowercase r.">
            <a:extLst>
              <a:ext uri="{FF2B5EF4-FFF2-40B4-BE49-F238E27FC236}">
                <a16:creationId xmlns:a16="http://schemas.microsoft.com/office/drawing/2014/main" id="{B696127C-D4F9-11D2-2F00-E260DEF4F844}"/>
              </a:ext>
            </a:extLst>
          </p:cNvPr>
          <p:cNvPicPr>
            <a:picLocks noGrp="1" noChangeAspect="1"/>
          </p:cNvPicPr>
          <p:nvPr>
            <p:ph type="pic" sz="quarter" idx="10"/>
          </p:nvPr>
        </p:nvPicPr>
        <p:blipFill>
          <a:blip r:embed="rId3"/>
          <a:srcRect t="2436"/>
          <a:stretch>
            <a:fillRect/>
          </a:stretch>
        </p:blipFill>
        <p:spPr>
          <a:xfrm>
            <a:off x="1467738" y="1018901"/>
            <a:ext cx="2687665" cy="5582195"/>
          </a:xfrm>
          <a:prstGeom prst="rect">
            <a:avLst/>
          </a:prstGeom>
        </p:spPr>
      </p:pic>
    </p:spTree>
    <p:extLst>
      <p:ext uri="{BB962C8B-B14F-4D97-AF65-F5344CB8AC3E}">
        <p14:creationId xmlns:p14="http://schemas.microsoft.com/office/powerpoint/2010/main" val="2902744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wo graphics A and B are shown to represent dominance relationships. In graphic A, three flowers are shown with different allele combinations. The leftmost flower is red and of type uppercase R uppercase R, the middle flower is red and of type uppercase R lowercase r, and the last flower is white and of type lowercase r lowercase r. Under the flowers is text that reads, &quot;Uppercase R is dominant,&quot; and &quot;lowercase r is recessive.&quot; In graphic B, three flowers are shown with different allele combinations. The leftmost flower is red and of type uppercase R uppercase R, the middle flower is pink and of type uppercase R lowercase r, and the last flower is white and of type lowercase r lowercase r. Under the flowers is text that reads, &quot;Uppercase R and lowercase r exhibit incomplete dominance.&quot;">
            <a:extLst>
              <a:ext uri="{FF2B5EF4-FFF2-40B4-BE49-F238E27FC236}">
                <a16:creationId xmlns:a16="http://schemas.microsoft.com/office/drawing/2014/main" id="{FB23325A-6A1B-4857-839E-BB1E81A10294}"/>
              </a:ext>
            </a:extLst>
          </p:cNvPr>
          <p:cNvPicPr>
            <a:picLocks noGrp="1" noChangeAspect="1"/>
          </p:cNvPicPr>
          <p:nvPr>
            <p:ph type="pic" sz="quarter" idx="10"/>
          </p:nvPr>
        </p:nvPicPr>
        <p:blipFill>
          <a:blip r:embed="rId3"/>
          <a:srcRect t="8353" r="32062"/>
          <a:stretch>
            <a:fillRect/>
          </a:stretch>
        </p:blipFill>
        <p:spPr>
          <a:xfrm>
            <a:off x="1738971" y="2638696"/>
            <a:ext cx="9939223" cy="3634979"/>
          </a:xfrm>
          <a:prstGeom prst="rect">
            <a:avLst/>
          </a:prstGeom>
        </p:spPr>
      </p:pic>
    </p:spTree>
    <p:extLst>
      <p:ext uri="{BB962C8B-B14F-4D97-AF65-F5344CB8AC3E}">
        <p14:creationId xmlns:p14="http://schemas.microsoft.com/office/powerpoint/2010/main" val="614387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0DBD-34EC-93C3-B200-7DAEBF48C077}"/>
              </a:ext>
            </a:extLst>
          </p:cNvPr>
          <p:cNvSpPr>
            <a:spLocks noGrp="1"/>
          </p:cNvSpPr>
          <p:nvPr>
            <p:ph type="title"/>
          </p:nvPr>
        </p:nvSpPr>
        <p:spPr>
          <a:xfrm>
            <a:off x="202474" y="156119"/>
            <a:ext cx="10515600" cy="1325563"/>
          </a:xfrm>
        </p:spPr>
        <p:txBody>
          <a:bodyPr>
            <a:normAutofit/>
          </a:bodyPr>
          <a:lstStyle/>
          <a:p>
            <a:r>
              <a:rPr lang="en-US" sz="3200" dirty="0"/>
              <a:t>Law of Segregation</a:t>
            </a:r>
          </a:p>
        </p:txBody>
      </p:sp>
    </p:spTree>
    <p:extLst>
      <p:ext uri="{BB962C8B-B14F-4D97-AF65-F5344CB8AC3E}">
        <p14:creationId xmlns:p14="http://schemas.microsoft.com/office/powerpoint/2010/main" val="1343033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4F3EC-437F-685A-B875-8148B7126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66FD7-8092-FB80-80C2-D7D4F981F912}"/>
              </a:ext>
            </a:extLst>
          </p:cNvPr>
          <p:cNvSpPr>
            <a:spLocks noGrp="1"/>
          </p:cNvSpPr>
          <p:nvPr>
            <p:ph type="title"/>
          </p:nvPr>
        </p:nvSpPr>
        <p:spPr>
          <a:xfrm>
            <a:off x="202474" y="156119"/>
            <a:ext cx="10515600" cy="1325563"/>
          </a:xfrm>
        </p:spPr>
        <p:txBody>
          <a:bodyPr>
            <a:normAutofit/>
          </a:bodyPr>
          <a:lstStyle/>
          <a:p>
            <a:r>
              <a:rPr lang="en-US" sz="3200" dirty="0"/>
              <a:t>Law of Independent Assortment</a:t>
            </a:r>
          </a:p>
        </p:txBody>
      </p:sp>
    </p:spTree>
    <p:extLst>
      <p:ext uri="{BB962C8B-B14F-4D97-AF65-F5344CB8AC3E}">
        <p14:creationId xmlns:p14="http://schemas.microsoft.com/office/powerpoint/2010/main" val="319210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3F6D9A4-EB2C-2DA0-785A-CAF94D275D9E}"/>
              </a:ext>
            </a:extLst>
          </p:cNvPr>
          <p:cNvSpPr>
            <a:spLocks noGrp="1"/>
          </p:cNvSpPr>
          <p:nvPr>
            <p:ph type="title"/>
          </p:nvPr>
        </p:nvSpPr>
        <p:spPr>
          <a:xfrm>
            <a:off x="202474" y="156119"/>
            <a:ext cx="10515600" cy="1325563"/>
          </a:xfrm>
        </p:spPr>
        <p:txBody>
          <a:bodyPr>
            <a:normAutofit/>
          </a:bodyPr>
          <a:lstStyle/>
          <a:p>
            <a:r>
              <a:rPr lang="en-US" sz="3200" b="0" dirty="0"/>
              <a:t>Brachydactyly, Punnett, and Hardy</a:t>
            </a:r>
          </a:p>
        </p:txBody>
      </p:sp>
      <p:pic>
        <p:nvPicPr>
          <p:cNvPr id="11" name="Picture 10">
            <a:extLst>
              <a:ext uri="{FF2B5EF4-FFF2-40B4-BE49-F238E27FC236}">
                <a16:creationId xmlns:a16="http://schemas.microsoft.com/office/drawing/2014/main" id="{D828B918-2867-659A-FB55-3BAF16424EB9}"/>
              </a:ext>
            </a:extLst>
          </p:cNvPr>
          <p:cNvPicPr>
            <a:picLocks noChangeAspect="1"/>
          </p:cNvPicPr>
          <p:nvPr/>
        </p:nvPicPr>
        <p:blipFill>
          <a:blip r:embed="rId3"/>
          <a:stretch>
            <a:fillRect/>
          </a:stretch>
        </p:blipFill>
        <p:spPr>
          <a:xfrm>
            <a:off x="10504551" y="1481682"/>
            <a:ext cx="1484975" cy="1751509"/>
          </a:xfrm>
          <a:prstGeom prst="rect">
            <a:avLst/>
          </a:prstGeom>
        </p:spPr>
      </p:pic>
      <p:pic>
        <p:nvPicPr>
          <p:cNvPr id="13" name="Picture 12">
            <a:extLst>
              <a:ext uri="{FF2B5EF4-FFF2-40B4-BE49-F238E27FC236}">
                <a16:creationId xmlns:a16="http://schemas.microsoft.com/office/drawing/2014/main" id="{A5484B8F-DF23-92E6-0FA6-E05236167152}"/>
              </a:ext>
            </a:extLst>
          </p:cNvPr>
          <p:cNvPicPr>
            <a:picLocks noChangeAspect="1"/>
          </p:cNvPicPr>
          <p:nvPr/>
        </p:nvPicPr>
        <p:blipFill>
          <a:blip r:embed="rId4"/>
          <a:stretch>
            <a:fillRect/>
          </a:stretch>
        </p:blipFill>
        <p:spPr>
          <a:xfrm>
            <a:off x="202474" y="1257300"/>
            <a:ext cx="1358791" cy="1811721"/>
          </a:xfrm>
          <a:prstGeom prst="rect">
            <a:avLst/>
          </a:prstGeom>
        </p:spPr>
      </p:pic>
      <p:pic>
        <p:nvPicPr>
          <p:cNvPr id="14" name="Picture 13" descr="A Punnett Square with two pairs of hands. The top hands are malformed where the index finger is half the size of the middle finger and bends towards the thumb. They are labeled uppercase B uppercase B and uppercase B lowercase b.  The bottom hands appear normal and they are labeled lowercase b lowercase b.  The offspring possibilities of an uppercase B and lowercase b mating with an uppercase B and lowercase b include the following: one uppercase B uppercase B, two uppercase B  lowercase b, and one lowercase b lowercase b. Of these offspring, three of the four exhibit malformation of the fingers. The only offspring with normal hands have two lowercase b.">
            <a:extLst>
              <a:ext uri="{FF2B5EF4-FFF2-40B4-BE49-F238E27FC236}">
                <a16:creationId xmlns:a16="http://schemas.microsoft.com/office/drawing/2014/main" id="{FB23325A-6A1B-4857-839E-BB1E81A10294}"/>
              </a:ext>
            </a:extLst>
          </p:cNvPr>
          <p:cNvPicPr>
            <a:picLocks noGrp="1" noChangeAspect="1"/>
          </p:cNvPicPr>
          <p:nvPr/>
        </p:nvPicPr>
        <p:blipFill>
          <a:blip r:embed="rId5"/>
          <a:srcRect t="2495" b="53800"/>
          <a:stretch>
            <a:fillRect/>
          </a:stretch>
        </p:blipFill>
        <p:spPr>
          <a:xfrm>
            <a:off x="2801853" y="2163160"/>
            <a:ext cx="2987181" cy="4092935"/>
          </a:xfrm>
          <a:prstGeom prst="rect">
            <a:avLst/>
          </a:prstGeom>
        </p:spPr>
      </p:pic>
      <p:pic>
        <p:nvPicPr>
          <p:cNvPr id="15" name="Picture 14" descr="A Punnett Square with two pairs of hands. The top hands are malformed where the index finger is half the size of the middle finger and bends towards the thumb. They are labeled uppercase B uppercase B and uppercase B lowercase b.  The bottom hands appear normal and they are labeled lowercase b lowercase b.  The offspring possibilities of an uppercase B and lowercase b mating with an uppercase B and lowercase b include the following: one uppercase B uppercase B, two uppercase B  lowercase b, and one lowercase b lowercase b. Of these offspring, three of the four exhibit malformation of the fingers. The only offspring with normal hands have two lowercase b.">
            <a:extLst>
              <a:ext uri="{FF2B5EF4-FFF2-40B4-BE49-F238E27FC236}">
                <a16:creationId xmlns:a16="http://schemas.microsoft.com/office/drawing/2014/main" id="{F92B990C-A891-FBBF-D58B-B4D15285E466}"/>
              </a:ext>
            </a:extLst>
          </p:cNvPr>
          <p:cNvPicPr>
            <a:picLocks noGrp="1" noChangeAspect="1"/>
          </p:cNvPicPr>
          <p:nvPr/>
        </p:nvPicPr>
        <p:blipFill>
          <a:blip r:embed="rId5"/>
          <a:srcRect t="47089" b="22395"/>
          <a:stretch>
            <a:fillRect/>
          </a:stretch>
        </p:blipFill>
        <p:spPr>
          <a:xfrm>
            <a:off x="6402968" y="3069021"/>
            <a:ext cx="3184642" cy="3046674"/>
          </a:xfrm>
          <a:prstGeom prst="rect">
            <a:avLst/>
          </a:prstGeom>
        </p:spPr>
      </p:pic>
    </p:spTree>
    <p:extLst>
      <p:ext uri="{BB962C8B-B14F-4D97-AF65-F5344CB8AC3E}">
        <p14:creationId xmlns:p14="http://schemas.microsoft.com/office/powerpoint/2010/main" val="2256992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wo diagrams explaining individual level thinking and population level thinking. There is a Punnett square explaining individual level thinking.  It shows a mix between A 1 A 2 and A 1 A 2.  The offspring possibilities are A 1 A 1, A 1 A 2, A 1 A 2, and A 2 A 2.  It reads &quot;Individual-level thinking: What gametes and offspring are produced, in what frequencies, from a given pair of parents?&quot; Below this are two blue squares with different genetic combinations floating in them, representing population level thinking.  There is an arrow from the left square to the right square implying change over time.  The left square has the traits A 1 A 1, A 1 A 2, A 1 A 2, A 1 A 2, A 2 A 2, and A 1 A 1.  The right square has the traits A 1 A 2, A 1 A 1, A 1 A 1, A 1 A 1, A 2 A 2, and A 1 A 2.  The caption reads &quot;Population-level thinking: How do the characteristics of the population change over time as the result of evolutionary processes?&quot;">
            <a:extLst>
              <a:ext uri="{FF2B5EF4-FFF2-40B4-BE49-F238E27FC236}">
                <a16:creationId xmlns:a16="http://schemas.microsoft.com/office/drawing/2014/main" id="{FB23325A-6A1B-4857-839E-BB1E81A10294}"/>
              </a:ext>
            </a:extLst>
          </p:cNvPr>
          <p:cNvPicPr>
            <a:picLocks noGrp="1" noChangeAspect="1"/>
          </p:cNvPicPr>
          <p:nvPr>
            <p:ph type="pic" sz="quarter" idx="10"/>
          </p:nvPr>
        </p:nvPicPr>
        <p:blipFill>
          <a:blip r:embed="rId3"/>
          <a:srcRect b="10507"/>
          <a:stretch>
            <a:fillRect/>
          </a:stretch>
        </p:blipFill>
        <p:spPr>
          <a:xfrm>
            <a:off x="1698172" y="1257300"/>
            <a:ext cx="8447313" cy="5370236"/>
          </a:xfrm>
          <a:prstGeom prst="rect">
            <a:avLst/>
          </a:prstGeom>
        </p:spPr>
      </p:pic>
      <p:sp>
        <p:nvSpPr>
          <p:cNvPr id="6" name="Title 1">
            <a:extLst>
              <a:ext uri="{FF2B5EF4-FFF2-40B4-BE49-F238E27FC236}">
                <a16:creationId xmlns:a16="http://schemas.microsoft.com/office/drawing/2014/main" id="{6E5CF63F-E310-DDC4-3F2E-1E2BBBC10C89}"/>
              </a:ext>
            </a:extLst>
          </p:cNvPr>
          <p:cNvSpPr>
            <a:spLocks noGrp="1"/>
          </p:cNvSpPr>
          <p:nvPr>
            <p:ph type="title"/>
          </p:nvPr>
        </p:nvSpPr>
        <p:spPr>
          <a:xfrm>
            <a:off x="202474" y="156119"/>
            <a:ext cx="10515600" cy="1325563"/>
          </a:xfrm>
        </p:spPr>
        <p:txBody>
          <a:bodyPr>
            <a:normAutofit/>
          </a:bodyPr>
          <a:lstStyle/>
          <a:p>
            <a:r>
              <a:rPr lang="en-US" sz="3200" b="0" dirty="0"/>
              <a:t>Going from the individual to the population</a:t>
            </a:r>
          </a:p>
        </p:txBody>
      </p:sp>
    </p:spTree>
    <p:extLst>
      <p:ext uri="{BB962C8B-B14F-4D97-AF65-F5344CB8AC3E}">
        <p14:creationId xmlns:p14="http://schemas.microsoft.com/office/powerpoint/2010/main" val="3545554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8146-11A2-62A5-78C3-076911E6D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A22C6-858E-3E78-D20D-321E44779F94}"/>
              </a:ext>
            </a:extLst>
          </p:cNvPr>
          <p:cNvSpPr>
            <a:spLocks noGrp="1"/>
          </p:cNvSpPr>
          <p:nvPr>
            <p:ph type="title"/>
          </p:nvPr>
        </p:nvSpPr>
        <p:spPr>
          <a:xfrm>
            <a:off x="202474" y="156119"/>
            <a:ext cx="10515600" cy="1325563"/>
          </a:xfrm>
        </p:spPr>
        <p:txBody>
          <a:bodyPr>
            <a:normAutofit/>
          </a:bodyPr>
          <a:lstStyle/>
          <a:p>
            <a:r>
              <a:rPr lang="en-US" sz="3200" dirty="0"/>
              <a:t>Hardy-Weinberg: A null model for allele frequency change</a:t>
            </a:r>
          </a:p>
        </p:txBody>
      </p:sp>
    </p:spTree>
    <p:extLst>
      <p:ext uri="{BB962C8B-B14F-4D97-AF65-F5344CB8AC3E}">
        <p14:creationId xmlns:p14="http://schemas.microsoft.com/office/powerpoint/2010/main" val="320823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7FC4-C379-BAC1-8232-E1A0963CF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3D009-8D35-1358-0215-69A218677976}"/>
              </a:ext>
            </a:extLst>
          </p:cNvPr>
          <p:cNvSpPr>
            <a:spLocks noGrp="1"/>
          </p:cNvSpPr>
          <p:nvPr>
            <p:ph type="title"/>
          </p:nvPr>
        </p:nvSpPr>
        <p:spPr>
          <a:xfrm>
            <a:off x="80554" y="-70304"/>
            <a:ext cx="10515600" cy="1325563"/>
          </a:xfrm>
        </p:spPr>
        <p:txBody>
          <a:bodyPr>
            <a:normAutofit/>
          </a:bodyPr>
          <a:lstStyle/>
          <a:p>
            <a:r>
              <a:rPr lang="en-US" sz="3200" dirty="0"/>
              <a:t>Hardy-Weinberg: A null model for allele frequency change</a:t>
            </a:r>
          </a:p>
        </p:txBody>
      </p:sp>
      <p:pic>
        <p:nvPicPr>
          <p:cNvPr id="4" name="Picture 3">
            <a:extLst>
              <a:ext uri="{FF2B5EF4-FFF2-40B4-BE49-F238E27FC236}">
                <a16:creationId xmlns:a16="http://schemas.microsoft.com/office/drawing/2014/main" id="{64867A5A-73EE-CBE5-F781-AFA1378A1AEC}"/>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2897756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10980-C5C0-D415-CE41-ED67CC7F7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1480-1186-A3E4-8536-42D563A5C6EE}"/>
              </a:ext>
            </a:extLst>
          </p:cNvPr>
          <p:cNvSpPr>
            <a:spLocks noGrp="1"/>
          </p:cNvSpPr>
          <p:nvPr>
            <p:ph type="title"/>
          </p:nvPr>
        </p:nvSpPr>
        <p:spPr>
          <a:xfrm>
            <a:off x="80554" y="-70304"/>
            <a:ext cx="10515600" cy="1325563"/>
          </a:xfrm>
        </p:spPr>
        <p:txBody>
          <a:bodyPr>
            <a:normAutofit/>
          </a:bodyPr>
          <a:lstStyle/>
          <a:p>
            <a:r>
              <a:rPr lang="en-US" sz="3200" dirty="0"/>
              <a:t>Violations of Hardy-Weinberg: Selection</a:t>
            </a:r>
          </a:p>
        </p:txBody>
      </p:sp>
      <p:pic>
        <p:nvPicPr>
          <p:cNvPr id="4" name="Picture 3">
            <a:extLst>
              <a:ext uri="{FF2B5EF4-FFF2-40B4-BE49-F238E27FC236}">
                <a16:creationId xmlns:a16="http://schemas.microsoft.com/office/drawing/2014/main" id="{E662C006-2EE2-4AED-1162-B9D9E7349BCA}"/>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4217039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E39FF-FA04-3801-EA77-B17CC00B0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7360B-2B2E-3E60-7001-53A18621F4DE}"/>
              </a:ext>
            </a:extLst>
          </p:cNvPr>
          <p:cNvSpPr>
            <a:spLocks noGrp="1"/>
          </p:cNvSpPr>
          <p:nvPr>
            <p:ph type="title"/>
          </p:nvPr>
        </p:nvSpPr>
        <p:spPr>
          <a:xfrm>
            <a:off x="80554" y="-70304"/>
            <a:ext cx="10515600" cy="1325563"/>
          </a:xfrm>
        </p:spPr>
        <p:txBody>
          <a:bodyPr>
            <a:normAutofit/>
          </a:bodyPr>
          <a:lstStyle/>
          <a:p>
            <a:r>
              <a:rPr lang="en-US" sz="3200" dirty="0"/>
              <a:t>Violations of Hardy-Weinberg: Mutation</a:t>
            </a:r>
          </a:p>
        </p:txBody>
      </p:sp>
      <p:pic>
        <p:nvPicPr>
          <p:cNvPr id="4" name="Picture 3">
            <a:extLst>
              <a:ext uri="{FF2B5EF4-FFF2-40B4-BE49-F238E27FC236}">
                <a16:creationId xmlns:a16="http://schemas.microsoft.com/office/drawing/2014/main" id="{4FF8AB75-CB50-DD28-D481-CCCE4B964499}"/>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158314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5A620-6CF8-BCFF-83B4-71AE53748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DBDDF-16DA-AC0F-311A-CDBF43A6AEE8}"/>
              </a:ext>
            </a:extLst>
          </p:cNvPr>
          <p:cNvSpPr>
            <a:spLocks noGrp="1"/>
          </p:cNvSpPr>
          <p:nvPr>
            <p:ph type="title"/>
          </p:nvPr>
        </p:nvSpPr>
        <p:spPr>
          <a:xfrm>
            <a:off x="80554" y="-70304"/>
            <a:ext cx="10515600" cy="1325563"/>
          </a:xfrm>
        </p:spPr>
        <p:txBody>
          <a:bodyPr>
            <a:normAutofit/>
          </a:bodyPr>
          <a:lstStyle/>
          <a:p>
            <a:r>
              <a:rPr lang="en-US" sz="3200" dirty="0"/>
              <a:t>Violations of Hardy-Weinberg: Drift</a:t>
            </a:r>
          </a:p>
        </p:txBody>
      </p:sp>
      <p:pic>
        <p:nvPicPr>
          <p:cNvPr id="4" name="Picture 3">
            <a:extLst>
              <a:ext uri="{FF2B5EF4-FFF2-40B4-BE49-F238E27FC236}">
                <a16:creationId xmlns:a16="http://schemas.microsoft.com/office/drawing/2014/main" id="{048153B9-7454-ED41-8A70-6CAEE64F191F}"/>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1469672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5C386-178E-612B-F028-662BBF59A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6E2E7-A12F-3C95-37EF-AE5D90552D84}"/>
              </a:ext>
            </a:extLst>
          </p:cNvPr>
          <p:cNvSpPr>
            <a:spLocks noGrp="1"/>
          </p:cNvSpPr>
          <p:nvPr>
            <p:ph type="title"/>
          </p:nvPr>
        </p:nvSpPr>
        <p:spPr>
          <a:xfrm>
            <a:off x="80554" y="-70304"/>
            <a:ext cx="10515600" cy="1325563"/>
          </a:xfrm>
        </p:spPr>
        <p:txBody>
          <a:bodyPr>
            <a:normAutofit/>
          </a:bodyPr>
          <a:lstStyle/>
          <a:p>
            <a:r>
              <a:rPr lang="en-US" sz="3200" dirty="0"/>
              <a:t>Violations of Hardy-Weinberg: Migration</a:t>
            </a:r>
          </a:p>
        </p:txBody>
      </p:sp>
      <p:pic>
        <p:nvPicPr>
          <p:cNvPr id="4" name="Picture 3">
            <a:extLst>
              <a:ext uri="{FF2B5EF4-FFF2-40B4-BE49-F238E27FC236}">
                <a16:creationId xmlns:a16="http://schemas.microsoft.com/office/drawing/2014/main" id="{1B4D2007-78AF-6B56-9B5D-8C14835240AC}"/>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2801598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7C15-1C57-E863-A42C-33622BBD0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83982-57D2-F796-2E0D-2FFAA8601ABB}"/>
              </a:ext>
            </a:extLst>
          </p:cNvPr>
          <p:cNvSpPr>
            <a:spLocks noGrp="1"/>
          </p:cNvSpPr>
          <p:nvPr>
            <p:ph type="title"/>
          </p:nvPr>
        </p:nvSpPr>
        <p:spPr>
          <a:xfrm>
            <a:off x="80554" y="-70304"/>
            <a:ext cx="10515600" cy="1325563"/>
          </a:xfrm>
        </p:spPr>
        <p:txBody>
          <a:bodyPr>
            <a:normAutofit/>
          </a:bodyPr>
          <a:lstStyle/>
          <a:p>
            <a:r>
              <a:rPr lang="en-US" sz="3200" dirty="0"/>
              <a:t>Violations of Hardy-Weinberg: Non-random mating</a:t>
            </a:r>
          </a:p>
        </p:txBody>
      </p:sp>
      <p:pic>
        <p:nvPicPr>
          <p:cNvPr id="4" name="Picture 3">
            <a:extLst>
              <a:ext uri="{FF2B5EF4-FFF2-40B4-BE49-F238E27FC236}">
                <a16:creationId xmlns:a16="http://schemas.microsoft.com/office/drawing/2014/main" id="{86299ADD-4AC4-B446-DD2B-E476367B51DC}"/>
              </a:ext>
            </a:extLst>
          </p:cNvPr>
          <p:cNvPicPr>
            <a:picLocks noChangeAspect="1"/>
          </p:cNvPicPr>
          <p:nvPr/>
        </p:nvPicPr>
        <p:blipFill>
          <a:blip r:embed="rId2"/>
          <a:srcRect l="32673" t="16858" r="18793" b="18161"/>
          <a:stretch>
            <a:fillRect/>
          </a:stretch>
        </p:blipFill>
        <p:spPr>
          <a:xfrm>
            <a:off x="2322786" y="1145251"/>
            <a:ext cx="7378261" cy="5556630"/>
          </a:xfrm>
          <a:prstGeom prst="rect">
            <a:avLst/>
          </a:prstGeom>
        </p:spPr>
      </p:pic>
    </p:spTree>
    <p:extLst>
      <p:ext uri="{BB962C8B-B14F-4D97-AF65-F5344CB8AC3E}">
        <p14:creationId xmlns:p14="http://schemas.microsoft.com/office/powerpoint/2010/main" val="4284666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AE68E-718F-D15A-7A38-C3B1473F4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03FD6-0311-3723-CDBE-A98A016ED2B3}"/>
              </a:ext>
            </a:extLst>
          </p:cNvPr>
          <p:cNvSpPr>
            <a:spLocks noGrp="1"/>
          </p:cNvSpPr>
          <p:nvPr>
            <p:ph type="title"/>
          </p:nvPr>
        </p:nvSpPr>
        <p:spPr>
          <a:xfrm>
            <a:off x="202474" y="156119"/>
            <a:ext cx="10515600" cy="1325563"/>
          </a:xfrm>
        </p:spPr>
        <p:txBody>
          <a:bodyPr>
            <a:normAutofit/>
          </a:bodyPr>
          <a:lstStyle/>
          <a:p>
            <a:r>
              <a:rPr lang="en-US" sz="3200" dirty="0"/>
              <a:t>Hardy-Weinberg: Conclusions</a:t>
            </a:r>
          </a:p>
        </p:txBody>
      </p:sp>
    </p:spTree>
    <p:extLst>
      <p:ext uri="{BB962C8B-B14F-4D97-AF65-F5344CB8AC3E}">
        <p14:creationId xmlns:p14="http://schemas.microsoft.com/office/powerpoint/2010/main" val="2964962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7FFB6-6608-D7A5-92CC-E4ADB98E3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22402-6AF0-D761-1458-342B05554827}"/>
              </a:ext>
            </a:extLst>
          </p:cNvPr>
          <p:cNvSpPr>
            <a:spLocks noGrp="1"/>
          </p:cNvSpPr>
          <p:nvPr>
            <p:ph type="title"/>
          </p:nvPr>
        </p:nvSpPr>
        <p:spPr>
          <a:xfrm>
            <a:off x="202474" y="156119"/>
            <a:ext cx="10515600" cy="1325563"/>
          </a:xfrm>
        </p:spPr>
        <p:txBody>
          <a:bodyPr>
            <a:normAutofit/>
          </a:bodyPr>
          <a:lstStyle/>
          <a:p>
            <a:r>
              <a:rPr lang="en-US" sz="3200" dirty="0"/>
              <a:t>Frequencies/Probabilities: a refresher</a:t>
            </a:r>
          </a:p>
        </p:txBody>
      </p:sp>
    </p:spTree>
    <p:extLst>
      <p:ext uri="{BB962C8B-B14F-4D97-AF65-F5344CB8AC3E}">
        <p14:creationId xmlns:p14="http://schemas.microsoft.com/office/powerpoint/2010/main" val="276351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F5B77-A5B6-DCE2-1CAE-9012B6D7C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C26B5-BE4E-DF23-5281-8B6A5CC3438A}"/>
              </a:ext>
            </a:extLst>
          </p:cNvPr>
          <p:cNvSpPr>
            <a:spLocks noGrp="1"/>
          </p:cNvSpPr>
          <p:nvPr>
            <p:ph type="title"/>
          </p:nvPr>
        </p:nvSpPr>
        <p:spPr>
          <a:xfrm>
            <a:off x="202474" y="156119"/>
            <a:ext cx="10515600" cy="1325563"/>
          </a:xfrm>
        </p:spPr>
        <p:txBody>
          <a:bodyPr>
            <a:normAutofit/>
          </a:bodyPr>
          <a:lstStyle/>
          <a:p>
            <a:r>
              <a:rPr lang="en-US" sz="3200" dirty="0"/>
              <a:t>From Genotype Frequencies to Allele Frequencies</a:t>
            </a:r>
          </a:p>
        </p:txBody>
      </p:sp>
      <p:pic>
        <p:nvPicPr>
          <p:cNvPr id="5" name="Picture 4">
            <a:extLst>
              <a:ext uri="{FF2B5EF4-FFF2-40B4-BE49-F238E27FC236}">
                <a16:creationId xmlns:a16="http://schemas.microsoft.com/office/drawing/2014/main" id="{E9554E7A-509D-5C95-1A56-12DD031EEB55}"/>
              </a:ext>
            </a:extLst>
          </p:cNvPr>
          <p:cNvPicPr>
            <a:picLocks noChangeAspect="1"/>
          </p:cNvPicPr>
          <p:nvPr/>
        </p:nvPicPr>
        <p:blipFill>
          <a:blip r:embed="rId2"/>
          <a:srcRect t="2221" b="46302"/>
          <a:stretch>
            <a:fillRect/>
          </a:stretch>
        </p:blipFill>
        <p:spPr>
          <a:xfrm>
            <a:off x="2317305" y="2007476"/>
            <a:ext cx="7557390" cy="4225159"/>
          </a:xfrm>
          <a:prstGeom prst="rect">
            <a:avLst/>
          </a:prstGeom>
        </p:spPr>
      </p:pic>
    </p:spTree>
    <p:extLst>
      <p:ext uri="{BB962C8B-B14F-4D97-AF65-F5344CB8AC3E}">
        <p14:creationId xmlns:p14="http://schemas.microsoft.com/office/powerpoint/2010/main" val="4033152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8B355-D4AB-96EE-2A9F-B7A1EE2C8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3BF85-DF07-DE53-EA7E-AA17DCEAC67F}"/>
              </a:ext>
            </a:extLst>
          </p:cNvPr>
          <p:cNvSpPr>
            <a:spLocks noGrp="1"/>
          </p:cNvSpPr>
          <p:nvPr>
            <p:ph type="title"/>
          </p:nvPr>
        </p:nvSpPr>
        <p:spPr>
          <a:xfrm>
            <a:off x="202474" y="156119"/>
            <a:ext cx="10515600" cy="1325563"/>
          </a:xfrm>
        </p:spPr>
        <p:txBody>
          <a:bodyPr>
            <a:normAutofit/>
          </a:bodyPr>
          <a:lstStyle/>
          <a:p>
            <a:r>
              <a:rPr lang="en-US" sz="3200" dirty="0"/>
              <a:t>From Genotype Frequencies to Allele Frequencies</a:t>
            </a:r>
          </a:p>
        </p:txBody>
      </p:sp>
    </p:spTree>
    <p:extLst>
      <p:ext uri="{BB962C8B-B14F-4D97-AF65-F5344CB8AC3E}">
        <p14:creationId xmlns:p14="http://schemas.microsoft.com/office/powerpoint/2010/main" val="2333754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BD4BC-DD0F-2AC4-1A86-A4C4AC651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7009E-4AA8-DB06-4BDE-A4EA467C4118}"/>
              </a:ext>
            </a:extLst>
          </p:cNvPr>
          <p:cNvSpPr>
            <a:spLocks noGrp="1"/>
          </p:cNvSpPr>
          <p:nvPr>
            <p:ph type="title"/>
          </p:nvPr>
        </p:nvSpPr>
        <p:spPr>
          <a:xfrm>
            <a:off x="202474" y="156119"/>
            <a:ext cx="10515600" cy="1325563"/>
          </a:xfrm>
        </p:spPr>
        <p:txBody>
          <a:bodyPr>
            <a:normAutofit/>
          </a:bodyPr>
          <a:lstStyle/>
          <a:p>
            <a:r>
              <a:rPr lang="en-US" sz="3200" dirty="0"/>
              <a:t>From Allele Frequencies to Genotype Frequencies</a:t>
            </a:r>
          </a:p>
        </p:txBody>
      </p:sp>
      <p:pic>
        <p:nvPicPr>
          <p:cNvPr id="4" name="Picture 3">
            <a:extLst>
              <a:ext uri="{FF2B5EF4-FFF2-40B4-BE49-F238E27FC236}">
                <a16:creationId xmlns:a16="http://schemas.microsoft.com/office/drawing/2014/main" id="{52866508-58CD-E256-17EB-AAD7E2CF1AE4}"/>
              </a:ext>
            </a:extLst>
          </p:cNvPr>
          <p:cNvPicPr>
            <a:picLocks noChangeAspect="1"/>
          </p:cNvPicPr>
          <p:nvPr/>
        </p:nvPicPr>
        <p:blipFill>
          <a:blip r:embed="rId2"/>
          <a:srcRect t="2221" b="46302"/>
          <a:stretch>
            <a:fillRect/>
          </a:stretch>
        </p:blipFill>
        <p:spPr>
          <a:xfrm>
            <a:off x="2317305" y="2007476"/>
            <a:ext cx="7557390" cy="4225159"/>
          </a:xfrm>
          <a:prstGeom prst="rect">
            <a:avLst/>
          </a:prstGeom>
        </p:spPr>
      </p:pic>
    </p:spTree>
    <p:extLst>
      <p:ext uri="{BB962C8B-B14F-4D97-AF65-F5344CB8AC3E}">
        <p14:creationId xmlns:p14="http://schemas.microsoft.com/office/powerpoint/2010/main" val="1900476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69DA-4129-8AA9-6837-8796AC313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C2A2E-3DE0-6FED-2C76-A240D011783D}"/>
              </a:ext>
            </a:extLst>
          </p:cNvPr>
          <p:cNvSpPr>
            <a:spLocks noGrp="1"/>
          </p:cNvSpPr>
          <p:nvPr>
            <p:ph type="title"/>
          </p:nvPr>
        </p:nvSpPr>
        <p:spPr>
          <a:xfrm>
            <a:off x="202474" y="156119"/>
            <a:ext cx="10515600" cy="1325563"/>
          </a:xfrm>
        </p:spPr>
        <p:txBody>
          <a:bodyPr>
            <a:normAutofit/>
          </a:bodyPr>
          <a:lstStyle/>
          <a:p>
            <a:r>
              <a:rPr lang="en-US" sz="3200" dirty="0"/>
              <a:t>From Allele Frequencies to Genotype Frequencies</a:t>
            </a:r>
          </a:p>
        </p:txBody>
      </p:sp>
    </p:spTree>
    <p:extLst>
      <p:ext uri="{BB962C8B-B14F-4D97-AF65-F5344CB8AC3E}">
        <p14:creationId xmlns:p14="http://schemas.microsoft.com/office/powerpoint/2010/main" val="2780947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371BC-582E-7528-C108-C197E6DD0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94246-7BDA-3152-8877-981CB650393F}"/>
              </a:ext>
            </a:extLst>
          </p:cNvPr>
          <p:cNvSpPr>
            <a:spLocks noGrp="1"/>
          </p:cNvSpPr>
          <p:nvPr>
            <p:ph type="title"/>
          </p:nvPr>
        </p:nvSpPr>
        <p:spPr>
          <a:xfrm>
            <a:off x="202474" y="156119"/>
            <a:ext cx="10515600" cy="1325563"/>
          </a:xfrm>
        </p:spPr>
        <p:txBody>
          <a:bodyPr>
            <a:normAutofit/>
          </a:bodyPr>
          <a:lstStyle/>
          <a:p>
            <a:r>
              <a:rPr lang="en-US" sz="3200" dirty="0"/>
              <a:t>Testing for Hardy-Weinberg Equilibrium</a:t>
            </a:r>
          </a:p>
        </p:txBody>
      </p:sp>
    </p:spTree>
    <p:extLst>
      <p:ext uri="{BB962C8B-B14F-4D97-AF65-F5344CB8AC3E}">
        <p14:creationId xmlns:p14="http://schemas.microsoft.com/office/powerpoint/2010/main" val="1683470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2390-1535-71DD-7562-1E7083D0F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BE8B0-7D2F-3B5B-23DF-4F1C03EC9FDD}"/>
              </a:ext>
            </a:extLst>
          </p:cNvPr>
          <p:cNvSpPr>
            <a:spLocks noGrp="1"/>
          </p:cNvSpPr>
          <p:nvPr>
            <p:ph type="title"/>
          </p:nvPr>
        </p:nvSpPr>
        <p:spPr>
          <a:xfrm>
            <a:off x="202474" y="156119"/>
            <a:ext cx="10515600" cy="1325563"/>
          </a:xfrm>
        </p:spPr>
        <p:txBody>
          <a:bodyPr>
            <a:normAutofit/>
          </a:bodyPr>
          <a:lstStyle/>
          <a:p>
            <a:r>
              <a:rPr lang="en-US" sz="3200" dirty="0"/>
              <a:t>Practice</a:t>
            </a:r>
          </a:p>
        </p:txBody>
      </p:sp>
    </p:spTree>
    <p:extLst>
      <p:ext uri="{BB962C8B-B14F-4D97-AF65-F5344CB8AC3E}">
        <p14:creationId xmlns:p14="http://schemas.microsoft.com/office/powerpoint/2010/main" val="898195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860</Words>
  <Application>Microsoft Office PowerPoint</Application>
  <PresentationFormat>Widescreen</PresentationFormat>
  <Paragraphs>52</Paragraphs>
  <Slides>30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Intro to Population Genetics: Hardy-Weinberg</vt:lpstr>
      <vt:lpstr>Outline</vt:lpstr>
      <vt:lpstr>Qualitative vs Quantitative Predictions</vt:lpstr>
      <vt:lpstr>Blending vs Particulate Inheritance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Law of Segregation</vt:lpstr>
      <vt:lpstr>Law of Independent Assortment</vt:lpstr>
      <vt:lpstr>Brachydactyly, Punnett, and Hardy</vt:lpstr>
      <vt:lpstr>Going from the individual to the population</vt:lpstr>
      <vt:lpstr>Hardy-Weinberg: A null model for allele frequency change</vt:lpstr>
      <vt:lpstr>Hardy-Weinberg: A null model for allele frequency change</vt:lpstr>
      <vt:lpstr>Violations of Hardy-Weinberg: Selection</vt:lpstr>
      <vt:lpstr>Violations of Hardy-Weinberg: Mutation</vt:lpstr>
      <vt:lpstr>Violations of Hardy-Weinberg: Drift</vt:lpstr>
      <vt:lpstr>Violations of Hardy-Weinberg: Migration</vt:lpstr>
      <vt:lpstr>Violations of Hardy-Weinberg: Non-random mating</vt:lpstr>
      <vt:lpstr>Hardy-Weinberg: Conclusions</vt:lpstr>
      <vt:lpstr>Frequencies/Probabilities: a refresher</vt:lpstr>
      <vt:lpstr>From Genotype Frequencies to Allele Frequencies</vt:lpstr>
      <vt:lpstr>From Genotype Frequencies to Allele Frequencies</vt:lpstr>
      <vt:lpstr>From Allele Frequencies to Genotype Frequencies</vt:lpstr>
      <vt:lpstr>From Allele Frequencies to Genotype Frequencies</vt:lpstr>
      <vt:lpstr>Testing for Hardy-Weinberg Equilibrium</vt:lpstr>
      <vt:lpstr>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Knecht</dc:creator>
  <cp:lastModifiedBy>Josh Knecht</cp:lastModifiedBy>
  <cp:revision>2</cp:revision>
  <dcterms:created xsi:type="dcterms:W3CDTF">2026-06-02T12:58:21Z</dcterms:created>
  <dcterms:modified xsi:type="dcterms:W3CDTF">2026-06-02T14:05:57Z</dcterms:modified>
</cp:coreProperties>
</file>